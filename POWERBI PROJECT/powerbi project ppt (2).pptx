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Lst>
  <p:notesMasterIdLst>
    <p:notesMasterId r:id="rId18"/>
  </p:notesMasterIdLst>
  <p:sldIdLst>
    <p:sldId id="256" r:id="rId2"/>
    <p:sldId id="330" r:id="rId3"/>
    <p:sldId id="259" r:id="rId4"/>
    <p:sldId id="291" r:id="rId5"/>
    <p:sldId id="333" r:id="rId6"/>
    <p:sldId id="334" r:id="rId7"/>
    <p:sldId id="269" r:id="rId8"/>
    <p:sldId id="335" r:id="rId9"/>
    <p:sldId id="337" r:id="rId10"/>
    <p:sldId id="336" r:id="rId11"/>
    <p:sldId id="338" r:id="rId12"/>
    <p:sldId id="339" r:id="rId13"/>
    <p:sldId id="341" r:id="rId14"/>
    <p:sldId id="342" r:id="rId15"/>
    <p:sldId id="270" r:id="rId16"/>
    <p:sldId id="277" r:id="rId17"/>
  </p:sldIdLst>
  <p:sldSz cx="9144000" cy="5143500" type="screen16x9"/>
  <p:notesSz cx="6858000" cy="9144000"/>
  <p:embeddedFontLst>
    <p:embeddedFont>
      <p:font typeface="Didact Gothic" pitchFamily="2" charset="0"/>
      <p:regular r:id="rId19"/>
    </p:embeddedFont>
    <p:embeddedFont>
      <p:font typeface="Julius Sans One" panose="02000000000000000000" pitchFamily="2" charset="77"/>
      <p:regular r:id="rId20"/>
    </p:embeddedFont>
    <p:embeddedFont>
      <p:font typeface="Questrial" pitchFamily="2" charset="77"/>
      <p:regular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5851F1-E1EE-4B66-A53C-AEC467A580DB}">
  <a:tblStyle styleId="{C35851F1-E1EE-4B66-A53C-AEC467A580D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84"/>
    <p:restoredTop sz="94676"/>
  </p:normalViewPr>
  <p:slideViewPr>
    <p:cSldViewPr snapToGrid="0">
      <p:cViewPr>
        <p:scale>
          <a:sx n="116" d="100"/>
          <a:sy n="116" d="100"/>
        </p:scale>
        <p:origin x="144" y="5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47f2e9a217_0_2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347f2e9a217_0_2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47f2e9a217_0_2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347f2e9a217_0_2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9605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47f2e9a217_0_2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47f2e9a217_0_2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347f2e9a217_0_27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347f2e9a217_0_27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3310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47f2e9a217_0_2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347f2e9a217_0_2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47f2e9a217_0_2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347f2e9a217_0_2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159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47f2e9a217_0_2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47f2e9a217_0_2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146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47f2e9a217_0_2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47f2e9a217_0_2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11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47f2e9a217_0_2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47f2e9a217_0_2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4481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47f2e9a217_0_25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47f2e9a217_0_2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6501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8"/>
        <p:cNvGrpSpPr/>
        <p:nvPr/>
      </p:nvGrpSpPr>
      <p:grpSpPr>
        <a:xfrm>
          <a:off x="0" y="0"/>
          <a:ext cx="0" cy="0"/>
          <a:chOff x="0" y="0"/>
          <a:chExt cx="0" cy="0"/>
        </a:xfrm>
      </p:grpSpPr>
      <p:sp>
        <p:nvSpPr>
          <p:cNvPr id="1859" name="Google Shape;1859;g347f2e9a217_0_3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0" name="Google Shape;1860;g347f2e9a217_0_37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2843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47f2e9a217_0_2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347f2e9a217_0_2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347f2e9a217_0_25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347f2e9a217_0_2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5"/>
        </a:solidFill>
        <a:effectLst/>
      </p:bgPr>
    </p:bg>
    <p:spTree>
      <p:nvGrpSpPr>
        <p:cNvPr id="1" name="Shape 9"/>
        <p:cNvGrpSpPr/>
        <p:nvPr/>
      </p:nvGrpSpPr>
      <p:grpSpPr>
        <a:xfrm>
          <a:off x="0" y="0"/>
          <a:ext cx="0" cy="0"/>
          <a:chOff x="0" y="0"/>
          <a:chExt cx="0" cy="0"/>
        </a:xfrm>
      </p:grpSpPr>
      <p:sp>
        <p:nvSpPr>
          <p:cNvPr id="10" name="Google Shape;10;p2"/>
          <p:cNvSpPr/>
          <p:nvPr/>
        </p:nvSpPr>
        <p:spPr>
          <a:xfrm>
            <a:off x="-3537625" y="711975"/>
            <a:ext cx="7035600" cy="3277200"/>
          </a:xfrm>
          <a:prstGeom prst="triangle">
            <a:avLst>
              <a:gd name="adj" fmla="val 50000"/>
            </a:avLst>
          </a:prstGeom>
          <a:noFill/>
          <a:ln w="19050" cap="flat" cmpd="sng">
            <a:solidFill>
              <a:srgbClr val="3838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1255025"/>
            <a:ext cx="4322700" cy="3891000"/>
          </a:xfrm>
          <a:prstGeom prst="rtTriangle">
            <a:avLst/>
          </a:pr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1034200" y="0"/>
            <a:ext cx="10867800" cy="5143500"/>
          </a:xfrm>
          <a:prstGeom prst="triangle">
            <a:avLst>
              <a:gd name="adj" fmla="val 49850"/>
            </a:avLst>
          </a:pr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3603058" y="1948236"/>
            <a:ext cx="4543500" cy="2052600"/>
          </a:xfrm>
          <a:prstGeom prst="rect">
            <a:avLst/>
          </a:prstGeom>
        </p:spPr>
        <p:txBody>
          <a:bodyPr spcFirstLastPara="1" wrap="square" lIns="91425" tIns="91425" rIns="91425" bIns="91425" anchor="b" anchorCtr="0">
            <a:noAutofit/>
          </a:bodyPr>
          <a:lstStyle>
            <a:lvl1pPr lvl="0" algn="r">
              <a:spcBef>
                <a:spcPts val="0"/>
              </a:spcBef>
              <a:spcAft>
                <a:spcPts val="0"/>
              </a:spcAft>
              <a:buSzPts val="5200"/>
              <a:buNone/>
              <a:defRPr sz="4000">
                <a:solidFill>
                  <a:schemeClr val="accent5"/>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a:off x="2316899" y="4037775"/>
            <a:ext cx="5829600" cy="792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a:solidFill>
                  <a:schemeClr val="accent5"/>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accent5"/>
        </a:solidFill>
        <a:effectLst/>
      </p:bgPr>
    </p:bg>
    <p:spTree>
      <p:nvGrpSpPr>
        <p:cNvPr id="1" name="Shape 19"/>
        <p:cNvGrpSpPr/>
        <p:nvPr/>
      </p:nvGrpSpPr>
      <p:grpSpPr>
        <a:xfrm>
          <a:off x="0" y="0"/>
          <a:ext cx="0" cy="0"/>
          <a:chOff x="0" y="0"/>
          <a:chExt cx="0" cy="0"/>
        </a:xfrm>
      </p:grpSpPr>
      <p:sp>
        <p:nvSpPr>
          <p:cNvPr id="20" name="Google Shape;20;p4"/>
          <p:cNvSpPr/>
          <p:nvPr/>
        </p:nvSpPr>
        <p:spPr>
          <a:xfrm flipH="1">
            <a:off x="5808550" y="1533900"/>
            <a:ext cx="4800600" cy="4800600"/>
          </a:xfrm>
          <a:prstGeom prst="rtTriangle">
            <a:avLst/>
          </a:prstGeom>
          <a:solidFill>
            <a:srgbClr val="383838"/>
          </a:solidFill>
          <a:ln w="9525" cap="flat" cmpd="sng">
            <a:solidFill>
              <a:srgbClr val="DBDBD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1" name="Google Shape;21;p4"/>
          <p:cNvSpPr txBox="1">
            <a:spLocks noGrp="1"/>
          </p:cNvSpPr>
          <p:nvPr>
            <p:ph type="title"/>
          </p:nvPr>
        </p:nvSpPr>
        <p:spPr>
          <a:xfrm>
            <a:off x="626250" y="597425"/>
            <a:ext cx="7891500" cy="5727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b="1"/>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22" name="Google Shape;22;p4"/>
          <p:cNvSpPr txBox="1">
            <a:spLocks noGrp="1"/>
          </p:cNvSpPr>
          <p:nvPr>
            <p:ph type="body" idx="1"/>
          </p:nvPr>
        </p:nvSpPr>
        <p:spPr>
          <a:xfrm>
            <a:off x="626250" y="1304875"/>
            <a:ext cx="78915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accent5"/>
        </a:solidFill>
        <a:effectLst/>
      </p:bgPr>
    </p:bg>
    <p:spTree>
      <p:nvGrpSpPr>
        <p:cNvPr id="1" name="Shape 24"/>
        <p:cNvGrpSpPr/>
        <p:nvPr/>
      </p:nvGrpSpPr>
      <p:grpSpPr>
        <a:xfrm>
          <a:off x="0" y="0"/>
          <a:ext cx="0" cy="0"/>
          <a:chOff x="0" y="0"/>
          <a:chExt cx="0" cy="0"/>
        </a:xfrm>
      </p:grpSpPr>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5"/>
          <p:cNvSpPr txBox="1">
            <a:spLocks noGrp="1"/>
          </p:cNvSpPr>
          <p:nvPr>
            <p:ph type="subTitle" idx="1"/>
          </p:nvPr>
        </p:nvSpPr>
        <p:spPr>
          <a:xfrm>
            <a:off x="833927" y="2641577"/>
            <a:ext cx="3100800" cy="990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a:endParaRPr/>
          </a:p>
        </p:txBody>
      </p:sp>
      <p:sp>
        <p:nvSpPr>
          <p:cNvPr id="27" name="Google Shape;27;p5"/>
          <p:cNvSpPr txBox="1">
            <a:spLocks noGrp="1"/>
          </p:cNvSpPr>
          <p:nvPr>
            <p:ph type="subTitle" idx="2"/>
          </p:nvPr>
        </p:nvSpPr>
        <p:spPr>
          <a:xfrm>
            <a:off x="5209273" y="2641577"/>
            <a:ext cx="3100800" cy="990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a:endParaRPr/>
          </a:p>
        </p:txBody>
      </p:sp>
      <p:sp>
        <p:nvSpPr>
          <p:cNvPr id="28" name="Google Shape;28;p5"/>
          <p:cNvSpPr txBox="1">
            <a:spLocks noGrp="1"/>
          </p:cNvSpPr>
          <p:nvPr>
            <p:ph type="title"/>
          </p:nvPr>
        </p:nvSpPr>
        <p:spPr>
          <a:xfrm>
            <a:off x="1554977" y="1985760"/>
            <a:ext cx="1658700" cy="30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000"/>
              <a:buNone/>
              <a:defRPr sz="3000" b="1">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a:endParaRPr/>
          </a:p>
        </p:txBody>
      </p:sp>
      <p:sp>
        <p:nvSpPr>
          <p:cNvPr id="29" name="Google Shape;29;p5"/>
          <p:cNvSpPr txBox="1">
            <a:spLocks noGrp="1"/>
          </p:cNvSpPr>
          <p:nvPr>
            <p:ph type="title" idx="3"/>
          </p:nvPr>
        </p:nvSpPr>
        <p:spPr>
          <a:xfrm>
            <a:off x="5930323" y="1985760"/>
            <a:ext cx="1658700" cy="30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000"/>
              <a:buNone/>
              <a:defRPr sz="3000" b="1">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a:endParaRPr/>
          </a:p>
        </p:txBody>
      </p:sp>
      <p:sp>
        <p:nvSpPr>
          <p:cNvPr id="30" name="Google Shape;30;p5"/>
          <p:cNvSpPr/>
          <p:nvPr/>
        </p:nvSpPr>
        <p:spPr>
          <a:xfrm rot="10800000">
            <a:off x="3588450" y="-22625"/>
            <a:ext cx="1967100" cy="8859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5"/>
        </a:solidFill>
        <a:effectLst/>
      </p:bgPr>
    </p:bg>
    <p:spTree>
      <p:nvGrpSpPr>
        <p:cNvPr id="1" name="Shape 59"/>
        <p:cNvGrpSpPr/>
        <p:nvPr/>
      </p:nvGrpSpPr>
      <p:grpSpPr>
        <a:xfrm>
          <a:off x="0" y="0"/>
          <a:ext cx="0" cy="0"/>
          <a:chOff x="0" y="0"/>
          <a:chExt cx="0" cy="0"/>
        </a:xfrm>
      </p:grpSpPr>
      <p:sp>
        <p:nvSpPr>
          <p:cNvPr id="60" name="Google Shape;6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_1">
    <p:bg>
      <p:bgPr>
        <a:solidFill>
          <a:schemeClr val="accent5"/>
        </a:solidFill>
        <a:effectLst/>
      </p:bgPr>
    </p:bg>
    <p:spTree>
      <p:nvGrpSpPr>
        <p:cNvPr id="1" name="Shape 68"/>
        <p:cNvGrpSpPr/>
        <p:nvPr/>
      </p:nvGrpSpPr>
      <p:grpSpPr>
        <a:xfrm>
          <a:off x="0" y="0"/>
          <a:ext cx="0" cy="0"/>
          <a:chOff x="0" y="0"/>
          <a:chExt cx="0" cy="0"/>
        </a:xfrm>
      </p:grpSpPr>
      <p:sp>
        <p:nvSpPr>
          <p:cNvPr id="69" name="Google Shape;69;p14"/>
          <p:cNvSpPr/>
          <p:nvPr/>
        </p:nvSpPr>
        <p:spPr>
          <a:xfrm>
            <a:off x="-169300" y="-64500"/>
            <a:ext cx="4451100" cy="52722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 name="Google Shape;70;p14"/>
          <p:cNvCxnSpPr/>
          <p:nvPr/>
        </p:nvCxnSpPr>
        <p:spPr>
          <a:xfrm rot="10800000">
            <a:off x="-1604675" y="1624350"/>
            <a:ext cx="4819800" cy="4419600"/>
          </a:xfrm>
          <a:prstGeom prst="straightConnector1">
            <a:avLst/>
          </a:prstGeom>
          <a:noFill/>
          <a:ln w="19050" cap="flat" cmpd="sng">
            <a:solidFill>
              <a:schemeClr val="lt1"/>
            </a:solidFill>
            <a:prstDash val="solid"/>
            <a:round/>
            <a:headEnd type="none" w="med" len="med"/>
            <a:tailEnd type="none" w="med" len="med"/>
          </a:ln>
        </p:spPr>
      </p:cxnSp>
      <p:sp>
        <p:nvSpPr>
          <p:cNvPr id="71" name="Google Shape;71;p14"/>
          <p:cNvSpPr txBox="1">
            <a:spLocks noGrp="1"/>
          </p:cNvSpPr>
          <p:nvPr>
            <p:ph type="title"/>
          </p:nvPr>
        </p:nvSpPr>
        <p:spPr>
          <a:xfrm>
            <a:off x="5690650" y="1883225"/>
            <a:ext cx="3193800" cy="325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72" name="Google Shape;72;p14"/>
          <p:cNvSpPr txBox="1">
            <a:spLocks noGrp="1"/>
          </p:cNvSpPr>
          <p:nvPr>
            <p:ph type="title" idx="2" hasCustomPrompt="1"/>
          </p:nvPr>
        </p:nvSpPr>
        <p:spPr>
          <a:xfrm>
            <a:off x="4810771" y="1164068"/>
            <a:ext cx="684600" cy="2904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r>
              <a:t>xx%</a:t>
            </a:r>
          </a:p>
        </p:txBody>
      </p:sp>
      <p:sp>
        <p:nvSpPr>
          <p:cNvPr id="73" name="Google Shape;73;p14"/>
          <p:cNvSpPr txBox="1">
            <a:spLocks noGrp="1"/>
          </p:cNvSpPr>
          <p:nvPr>
            <p:ph type="title" idx="3" hasCustomPrompt="1"/>
          </p:nvPr>
        </p:nvSpPr>
        <p:spPr>
          <a:xfrm>
            <a:off x="4810771" y="2031990"/>
            <a:ext cx="684600" cy="2904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r>
              <a:t>xx%</a:t>
            </a:r>
          </a:p>
        </p:txBody>
      </p:sp>
      <p:sp>
        <p:nvSpPr>
          <p:cNvPr id="74" name="Google Shape;74;p14"/>
          <p:cNvSpPr txBox="1">
            <a:spLocks noGrp="1"/>
          </p:cNvSpPr>
          <p:nvPr>
            <p:ph type="title" idx="4"/>
          </p:nvPr>
        </p:nvSpPr>
        <p:spPr>
          <a:xfrm>
            <a:off x="5690650" y="3628275"/>
            <a:ext cx="3193800" cy="325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75" name="Google Shape;75;p14"/>
          <p:cNvSpPr txBox="1">
            <a:spLocks noGrp="1"/>
          </p:cNvSpPr>
          <p:nvPr>
            <p:ph type="title" idx="5"/>
          </p:nvPr>
        </p:nvSpPr>
        <p:spPr>
          <a:xfrm>
            <a:off x="5690650" y="1044000"/>
            <a:ext cx="3193800" cy="325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76" name="Google Shape;76;p14"/>
          <p:cNvSpPr txBox="1">
            <a:spLocks noGrp="1"/>
          </p:cNvSpPr>
          <p:nvPr>
            <p:ph type="title" idx="6"/>
          </p:nvPr>
        </p:nvSpPr>
        <p:spPr>
          <a:xfrm>
            <a:off x="5690650" y="2760350"/>
            <a:ext cx="3193800" cy="325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77" name="Google Shape;77;p14"/>
          <p:cNvSpPr txBox="1">
            <a:spLocks noGrp="1"/>
          </p:cNvSpPr>
          <p:nvPr>
            <p:ph type="title" idx="7" hasCustomPrompt="1"/>
          </p:nvPr>
        </p:nvSpPr>
        <p:spPr>
          <a:xfrm>
            <a:off x="4810771" y="2880418"/>
            <a:ext cx="684600" cy="2904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r>
              <a:t>xx%</a:t>
            </a:r>
          </a:p>
        </p:txBody>
      </p:sp>
      <p:sp>
        <p:nvSpPr>
          <p:cNvPr id="78" name="Google Shape;78;p14"/>
          <p:cNvSpPr txBox="1">
            <a:spLocks noGrp="1"/>
          </p:cNvSpPr>
          <p:nvPr>
            <p:ph type="title" idx="8" hasCustomPrompt="1"/>
          </p:nvPr>
        </p:nvSpPr>
        <p:spPr>
          <a:xfrm>
            <a:off x="4810771" y="3748340"/>
            <a:ext cx="684600" cy="2904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r>
              <a:t>xx%</a:t>
            </a:r>
          </a:p>
        </p:txBody>
      </p:sp>
      <p:sp>
        <p:nvSpPr>
          <p:cNvPr id="79" name="Google Shape;79;p14"/>
          <p:cNvSpPr txBox="1">
            <a:spLocks noGrp="1"/>
          </p:cNvSpPr>
          <p:nvPr>
            <p:ph type="subTitle" idx="1"/>
          </p:nvPr>
        </p:nvSpPr>
        <p:spPr>
          <a:xfrm>
            <a:off x="5690650" y="1319545"/>
            <a:ext cx="2454000" cy="23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80" name="Google Shape;80;p14"/>
          <p:cNvSpPr txBox="1">
            <a:spLocks noGrp="1"/>
          </p:cNvSpPr>
          <p:nvPr>
            <p:ph type="subTitle" idx="9"/>
          </p:nvPr>
        </p:nvSpPr>
        <p:spPr>
          <a:xfrm>
            <a:off x="5690650" y="3045420"/>
            <a:ext cx="2454000" cy="23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81" name="Google Shape;81;p14"/>
          <p:cNvSpPr txBox="1">
            <a:spLocks noGrp="1"/>
          </p:cNvSpPr>
          <p:nvPr>
            <p:ph type="subTitle" idx="13"/>
          </p:nvPr>
        </p:nvSpPr>
        <p:spPr>
          <a:xfrm>
            <a:off x="5690650" y="2162698"/>
            <a:ext cx="2454000" cy="23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82" name="Google Shape;82;p14"/>
          <p:cNvSpPr txBox="1">
            <a:spLocks noGrp="1"/>
          </p:cNvSpPr>
          <p:nvPr>
            <p:ph type="subTitle" idx="14"/>
          </p:nvPr>
        </p:nvSpPr>
        <p:spPr>
          <a:xfrm>
            <a:off x="5690650" y="3907748"/>
            <a:ext cx="2454000" cy="23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83" name="Google Shape;83;p14"/>
          <p:cNvSpPr txBox="1">
            <a:spLocks noGrp="1"/>
          </p:cNvSpPr>
          <p:nvPr>
            <p:ph type="title" idx="15"/>
          </p:nvPr>
        </p:nvSpPr>
        <p:spPr>
          <a:xfrm>
            <a:off x="713225" y="2198800"/>
            <a:ext cx="3416400" cy="52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500"/>
              <a:buNone/>
              <a:defRPr sz="3000" b="1">
                <a:solidFill>
                  <a:schemeClr val="lt1"/>
                </a:solidFill>
              </a:defRPr>
            </a:lvl1pPr>
            <a:lvl2pPr lvl="1">
              <a:spcBef>
                <a:spcPts val="0"/>
              </a:spcBef>
              <a:spcAft>
                <a:spcPts val="0"/>
              </a:spcAft>
              <a:buClr>
                <a:schemeClr val="lt1"/>
              </a:buClr>
              <a:buSzPts val="2500"/>
              <a:buNone/>
              <a:defRPr b="1">
                <a:solidFill>
                  <a:schemeClr val="lt1"/>
                </a:solidFill>
              </a:defRPr>
            </a:lvl2pPr>
            <a:lvl3pPr lvl="2">
              <a:spcBef>
                <a:spcPts val="0"/>
              </a:spcBef>
              <a:spcAft>
                <a:spcPts val="0"/>
              </a:spcAft>
              <a:buClr>
                <a:schemeClr val="lt1"/>
              </a:buClr>
              <a:buSzPts val="2500"/>
              <a:buNone/>
              <a:defRPr b="1">
                <a:solidFill>
                  <a:schemeClr val="lt1"/>
                </a:solidFill>
              </a:defRPr>
            </a:lvl3pPr>
            <a:lvl4pPr lvl="3">
              <a:spcBef>
                <a:spcPts val="0"/>
              </a:spcBef>
              <a:spcAft>
                <a:spcPts val="0"/>
              </a:spcAft>
              <a:buClr>
                <a:schemeClr val="lt1"/>
              </a:buClr>
              <a:buSzPts val="2500"/>
              <a:buNone/>
              <a:defRPr b="1">
                <a:solidFill>
                  <a:schemeClr val="lt1"/>
                </a:solidFill>
              </a:defRPr>
            </a:lvl4pPr>
            <a:lvl5pPr lvl="4">
              <a:spcBef>
                <a:spcPts val="0"/>
              </a:spcBef>
              <a:spcAft>
                <a:spcPts val="0"/>
              </a:spcAft>
              <a:buClr>
                <a:schemeClr val="lt1"/>
              </a:buClr>
              <a:buSzPts val="2500"/>
              <a:buNone/>
              <a:defRPr b="1">
                <a:solidFill>
                  <a:schemeClr val="lt1"/>
                </a:solidFill>
              </a:defRPr>
            </a:lvl5pPr>
            <a:lvl6pPr lvl="5">
              <a:spcBef>
                <a:spcPts val="0"/>
              </a:spcBef>
              <a:spcAft>
                <a:spcPts val="0"/>
              </a:spcAft>
              <a:buClr>
                <a:schemeClr val="lt1"/>
              </a:buClr>
              <a:buSzPts val="2500"/>
              <a:buNone/>
              <a:defRPr b="1">
                <a:solidFill>
                  <a:schemeClr val="lt1"/>
                </a:solidFill>
              </a:defRPr>
            </a:lvl6pPr>
            <a:lvl7pPr lvl="6">
              <a:spcBef>
                <a:spcPts val="0"/>
              </a:spcBef>
              <a:spcAft>
                <a:spcPts val="0"/>
              </a:spcAft>
              <a:buClr>
                <a:schemeClr val="lt1"/>
              </a:buClr>
              <a:buSzPts val="2500"/>
              <a:buNone/>
              <a:defRPr b="1">
                <a:solidFill>
                  <a:schemeClr val="lt1"/>
                </a:solidFill>
              </a:defRPr>
            </a:lvl7pPr>
            <a:lvl8pPr lvl="7">
              <a:spcBef>
                <a:spcPts val="0"/>
              </a:spcBef>
              <a:spcAft>
                <a:spcPts val="0"/>
              </a:spcAft>
              <a:buClr>
                <a:schemeClr val="lt1"/>
              </a:buClr>
              <a:buSzPts val="2500"/>
              <a:buNone/>
              <a:defRPr b="1">
                <a:solidFill>
                  <a:schemeClr val="lt1"/>
                </a:solidFill>
              </a:defRPr>
            </a:lvl8pPr>
            <a:lvl9pPr lvl="8">
              <a:spcBef>
                <a:spcPts val="0"/>
              </a:spcBef>
              <a:spcAft>
                <a:spcPts val="0"/>
              </a:spcAft>
              <a:buClr>
                <a:schemeClr val="lt1"/>
              </a:buClr>
              <a:buSzPts val="2500"/>
              <a:buNone/>
              <a:defRPr b="1">
                <a:solidFill>
                  <a:schemeClr val="lt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CUSTOM_5">
    <p:bg>
      <p:bgPr>
        <a:solidFill>
          <a:schemeClr val="accent5"/>
        </a:solidFill>
        <a:effectLst/>
      </p:bgPr>
    </p:bg>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862450" y="3418086"/>
            <a:ext cx="1763700" cy="30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129" name="Google Shape;129;p20"/>
          <p:cNvSpPr txBox="1">
            <a:spLocks noGrp="1"/>
          </p:cNvSpPr>
          <p:nvPr>
            <p:ph type="subTitle" idx="1"/>
          </p:nvPr>
        </p:nvSpPr>
        <p:spPr>
          <a:xfrm>
            <a:off x="424450" y="3659411"/>
            <a:ext cx="2639700" cy="797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130" name="Google Shape;130;p20"/>
          <p:cNvSpPr txBox="1">
            <a:spLocks noGrp="1"/>
          </p:cNvSpPr>
          <p:nvPr>
            <p:ph type="title" idx="2"/>
          </p:nvPr>
        </p:nvSpPr>
        <p:spPr>
          <a:xfrm>
            <a:off x="6525755" y="3418086"/>
            <a:ext cx="1763700" cy="30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131" name="Google Shape;131;p20"/>
          <p:cNvSpPr txBox="1">
            <a:spLocks noGrp="1"/>
          </p:cNvSpPr>
          <p:nvPr>
            <p:ph type="subTitle" idx="3"/>
          </p:nvPr>
        </p:nvSpPr>
        <p:spPr>
          <a:xfrm>
            <a:off x="6087751" y="3659411"/>
            <a:ext cx="2639700" cy="797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132" name="Google Shape;132;p20"/>
          <p:cNvSpPr txBox="1">
            <a:spLocks noGrp="1"/>
          </p:cNvSpPr>
          <p:nvPr>
            <p:ph type="title" idx="4"/>
          </p:nvPr>
        </p:nvSpPr>
        <p:spPr>
          <a:xfrm>
            <a:off x="3690150" y="3418086"/>
            <a:ext cx="1763700" cy="30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133" name="Google Shape;133;p20"/>
          <p:cNvSpPr txBox="1">
            <a:spLocks noGrp="1"/>
          </p:cNvSpPr>
          <p:nvPr>
            <p:ph type="subTitle" idx="5"/>
          </p:nvPr>
        </p:nvSpPr>
        <p:spPr>
          <a:xfrm>
            <a:off x="3252148" y="3659411"/>
            <a:ext cx="2639700" cy="797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134" name="Google Shape;134;p20"/>
          <p:cNvSpPr txBox="1">
            <a:spLocks noGrp="1"/>
          </p:cNvSpPr>
          <p:nvPr>
            <p:ph type="title" idx="6"/>
          </p:nvPr>
        </p:nvSpPr>
        <p:spPr>
          <a:xfrm>
            <a:off x="1687950" y="530725"/>
            <a:ext cx="5768100" cy="528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500"/>
              <a:buNone/>
              <a:defRPr sz="3000" b="1">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3">
  <p:cSld name="CUSTOM_24_1">
    <p:bg>
      <p:bgPr>
        <a:solidFill>
          <a:schemeClr val="accent5"/>
        </a:solidFill>
        <a:effectLst/>
      </p:bgPr>
    </p:bg>
    <p:spTree>
      <p:nvGrpSpPr>
        <p:cNvPr id="1" name="Shape 275"/>
        <p:cNvGrpSpPr/>
        <p:nvPr/>
      </p:nvGrpSpPr>
      <p:grpSpPr>
        <a:xfrm>
          <a:off x="0" y="0"/>
          <a:ext cx="0" cy="0"/>
          <a:chOff x="0" y="0"/>
          <a:chExt cx="0" cy="0"/>
        </a:xfrm>
      </p:grpSpPr>
      <p:sp>
        <p:nvSpPr>
          <p:cNvPr id="276" name="Google Shape;276;p37"/>
          <p:cNvSpPr txBox="1">
            <a:spLocks noGrp="1"/>
          </p:cNvSpPr>
          <p:nvPr>
            <p:ph type="title"/>
          </p:nvPr>
        </p:nvSpPr>
        <p:spPr>
          <a:xfrm>
            <a:off x="713225" y="530725"/>
            <a:ext cx="5771400" cy="528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1"/>
              </a:buClr>
              <a:buSzPts val="2500"/>
              <a:buNone/>
              <a:defRPr sz="3000" b="1">
                <a:solidFill>
                  <a:schemeClr val="dk1"/>
                </a:solidFill>
              </a:defRPr>
            </a:lvl1pPr>
            <a:lvl2pPr lvl="1">
              <a:spcBef>
                <a:spcPts val="0"/>
              </a:spcBef>
              <a:spcAft>
                <a:spcPts val="0"/>
              </a:spcAft>
              <a:buClr>
                <a:schemeClr val="dk1"/>
              </a:buClr>
              <a:buSzPts val="2500"/>
              <a:buNone/>
              <a:defRPr b="1">
                <a:solidFill>
                  <a:schemeClr val="dk1"/>
                </a:solidFill>
              </a:defRPr>
            </a:lvl2pPr>
            <a:lvl3pPr lvl="2">
              <a:spcBef>
                <a:spcPts val="0"/>
              </a:spcBef>
              <a:spcAft>
                <a:spcPts val="0"/>
              </a:spcAft>
              <a:buClr>
                <a:schemeClr val="dk1"/>
              </a:buClr>
              <a:buSzPts val="2500"/>
              <a:buNone/>
              <a:defRPr b="1">
                <a:solidFill>
                  <a:schemeClr val="dk1"/>
                </a:solidFill>
              </a:defRPr>
            </a:lvl3pPr>
            <a:lvl4pPr lvl="3">
              <a:spcBef>
                <a:spcPts val="0"/>
              </a:spcBef>
              <a:spcAft>
                <a:spcPts val="0"/>
              </a:spcAft>
              <a:buClr>
                <a:schemeClr val="dk1"/>
              </a:buClr>
              <a:buSzPts val="2500"/>
              <a:buNone/>
              <a:defRPr b="1">
                <a:solidFill>
                  <a:schemeClr val="dk1"/>
                </a:solidFill>
              </a:defRPr>
            </a:lvl4pPr>
            <a:lvl5pPr lvl="4">
              <a:spcBef>
                <a:spcPts val="0"/>
              </a:spcBef>
              <a:spcAft>
                <a:spcPts val="0"/>
              </a:spcAft>
              <a:buClr>
                <a:schemeClr val="dk1"/>
              </a:buClr>
              <a:buSzPts val="2500"/>
              <a:buNone/>
              <a:defRPr b="1">
                <a:solidFill>
                  <a:schemeClr val="dk1"/>
                </a:solidFill>
              </a:defRPr>
            </a:lvl5pPr>
            <a:lvl6pPr lvl="5">
              <a:spcBef>
                <a:spcPts val="0"/>
              </a:spcBef>
              <a:spcAft>
                <a:spcPts val="0"/>
              </a:spcAft>
              <a:buClr>
                <a:schemeClr val="dk1"/>
              </a:buClr>
              <a:buSzPts val="2500"/>
              <a:buNone/>
              <a:defRPr b="1">
                <a:solidFill>
                  <a:schemeClr val="dk1"/>
                </a:solidFill>
              </a:defRPr>
            </a:lvl6pPr>
            <a:lvl7pPr lvl="6">
              <a:spcBef>
                <a:spcPts val="0"/>
              </a:spcBef>
              <a:spcAft>
                <a:spcPts val="0"/>
              </a:spcAft>
              <a:buClr>
                <a:schemeClr val="dk1"/>
              </a:buClr>
              <a:buSzPts val="2500"/>
              <a:buNone/>
              <a:defRPr b="1">
                <a:solidFill>
                  <a:schemeClr val="dk1"/>
                </a:solidFill>
              </a:defRPr>
            </a:lvl7pPr>
            <a:lvl8pPr lvl="7">
              <a:spcBef>
                <a:spcPts val="0"/>
              </a:spcBef>
              <a:spcAft>
                <a:spcPts val="0"/>
              </a:spcAft>
              <a:buClr>
                <a:schemeClr val="dk1"/>
              </a:buClr>
              <a:buSzPts val="2500"/>
              <a:buNone/>
              <a:defRPr b="1">
                <a:solidFill>
                  <a:schemeClr val="dk1"/>
                </a:solidFill>
              </a:defRPr>
            </a:lvl8pPr>
            <a:lvl9pPr lvl="8">
              <a:spcBef>
                <a:spcPts val="0"/>
              </a:spcBef>
              <a:spcAft>
                <a:spcPts val="0"/>
              </a:spcAft>
              <a:buClr>
                <a:schemeClr val="dk1"/>
              </a:buClr>
              <a:buSzPts val="2500"/>
              <a:buNone/>
              <a:defRPr b="1">
                <a:solidFill>
                  <a:schemeClr val="dk1"/>
                </a:solidFill>
              </a:defRPr>
            </a:lvl9pPr>
          </a:lstStyle>
          <a:p>
            <a:endParaRPr/>
          </a:p>
        </p:txBody>
      </p:sp>
      <p:sp>
        <p:nvSpPr>
          <p:cNvPr id="277" name="Google Shape;277;p37"/>
          <p:cNvSpPr/>
          <p:nvPr/>
        </p:nvSpPr>
        <p:spPr>
          <a:xfrm rot="10800000">
            <a:off x="-2495250" y="-885400"/>
            <a:ext cx="4317900" cy="22131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2">
  <p:cSld name="SECTION_TITLE_AND_DESCRIPTION_2">
    <p:bg>
      <p:bgPr>
        <a:solidFill>
          <a:schemeClr val="accent5"/>
        </a:solidFill>
        <a:effectLst/>
      </p:bgPr>
    </p:bg>
    <p:spTree>
      <p:nvGrpSpPr>
        <p:cNvPr id="1" name="Shape 354"/>
        <p:cNvGrpSpPr/>
        <p:nvPr/>
      </p:nvGrpSpPr>
      <p:grpSpPr>
        <a:xfrm>
          <a:off x="0" y="0"/>
          <a:ext cx="0" cy="0"/>
          <a:chOff x="0" y="0"/>
          <a:chExt cx="0" cy="0"/>
        </a:xfrm>
      </p:grpSpPr>
      <p:sp>
        <p:nvSpPr>
          <p:cNvPr id="355" name="Google Shape;355;p47"/>
          <p:cNvSpPr/>
          <p:nvPr/>
        </p:nvSpPr>
        <p:spPr>
          <a:xfrm rot="5400000">
            <a:off x="-64425" y="64350"/>
            <a:ext cx="4243200" cy="41145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7"/>
          <p:cNvSpPr/>
          <p:nvPr/>
        </p:nvSpPr>
        <p:spPr>
          <a:xfrm rot="-5400000" flipH="1">
            <a:off x="4941700" y="26525"/>
            <a:ext cx="4364700" cy="4227600"/>
          </a:xfrm>
          <a:prstGeom prst="rtTriangl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7"/>
          <p:cNvSpPr txBox="1">
            <a:spLocks noGrp="1"/>
          </p:cNvSpPr>
          <p:nvPr>
            <p:ph type="ctrTitle"/>
          </p:nvPr>
        </p:nvSpPr>
        <p:spPr>
          <a:xfrm>
            <a:off x="1690800" y="1707225"/>
            <a:ext cx="5762400" cy="1463100"/>
          </a:xfrm>
          <a:prstGeom prst="rect">
            <a:avLst/>
          </a:prstGeom>
        </p:spPr>
        <p:txBody>
          <a:bodyPr spcFirstLastPara="1" wrap="square" lIns="91425" tIns="91425" rIns="91425" bIns="91425" anchor="b" anchorCtr="0">
            <a:noAutofit/>
          </a:bodyPr>
          <a:lstStyle>
            <a:lvl1pPr lvl="0" algn="ctr">
              <a:spcBef>
                <a:spcPts val="0"/>
              </a:spcBef>
              <a:spcAft>
                <a:spcPts val="0"/>
              </a:spcAft>
              <a:buSzPts val="8000"/>
              <a:buNone/>
              <a:defRPr sz="3000" b="1"/>
            </a:lvl1pPr>
            <a:lvl2pPr lvl="1" algn="ctr">
              <a:spcBef>
                <a:spcPts val="0"/>
              </a:spcBef>
              <a:spcAft>
                <a:spcPts val="0"/>
              </a:spcAft>
              <a:buSzPts val="8000"/>
              <a:buNone/>
              <a:defRPr sz="8000" b="1"/>
            </a:lvl2pPr>
            <a:lvl3pPr lvl="2" algn="ctr">
              <a:spcBef>
                <a:spcPts val="0"/>
              </a:spcBef>
              <a:spcAft>
                <a:spcPts val="0"/>
              </a:spcAft>
              <a:buSzPts val="8000"/>
              <a:buNone/>
              <a:defRPr sz="8000" b="1"/>
            </a:lvl3pPr>
            <a:lvl4pPr lvl="3" algn="ctr">
              <a:spcBef>
                <a:spcPts val="0"/>
              </a:spcBef>
              <a:spcAft>
                <a:spcPts val="0"/>
              </a:spcAft>
              <a:buSzPts val="8000"/>
              <a:buNone/>
              <a:defRPr sz="8000" b="1"/>
            </a:lvl4pPr>
            <a:lvl5pPr lvl="4" algn="ctr">
              <a:spcBef>
                <a:spcPts val="0"/>
              </a:spcBef>
              <a:spcAft>
                <a:spcPts val="0"/>
              </a:spcAft>
              <a:buSzPts val="8000"/>
              <a:buNone/>
              <a:defRPr sz="8000" b="1"/>
            </a:lvl5pPr>
            <a:lvl6pPr lvl="5" algn="ctr">
              <a:spcBef>
                <a:spcPts val="0"/>
              </a:spcBef>
              <a:spcAft>
                <a:spcPts val="0"/>
              </a:spcAft>
              <a:buSzPts val="8000"/>
              <a:buNone/>
              <a:defRPr sz="8000" b="1"/>
            </a:lvl6pPr>
            <a:lvl7pPr lvl="6" algn="ctr">
              <a:spcBef>
                <a:spcPts val="0"/>
              </a:spcBef>
              <a:spcAft>
                <a:spcPts val="0"/>
              </a:spcAft>
              <a:buSzPts val="8000"/>
              <a:buNone/>
              <a:defRPr sz="8000" b="1"/>
            </a:lvl7pPr>
            <a:lvl8pPr lvl="7" algn="ctr">
              <a:spcBef>
                <a:spcPts val="0"/>
              </a:spcBef>
              <a:spcAft>
                <a:spcPts val="0"/>
              </a:spcAft>
              <a:buSzPts val="8000"/>
              <a:buNone/>
              <a:defRPr sz="8000" b="1"/>
            </a:lvl8pPr>
            <a:lvl9pPr lvl="8" algn="ctr">
              <a:spcBef>
                <a:spcPts val="0"/>
              </a:spcBef>
              <a:spcAft>
                <a:spcPts val="0"/>
              </a:spcAft>
              <a:buSzPts val="8000"/>
              <a:buNone/>
              <a:defRPr sz="8000" b="1"/>
            </a:lvl9pPr>
          </a:lstStyle>
          <a:p>
            <a:endParaRPr/>
          </a:p>
        </p:txBody>
      </p:sp>
      <p:sp>
        <p:nvSpPr>
          <p:cNvPr id="358" name="Google Shape;358;p47"/>
          <p:cNvSpPr txBox="1">
            <a:spLocks noGrp="1"/>
          </p:cNvSpPr>
          <p:nvPr>
            <p:ph type="subTitle" idx="1"/>
          </p:nvPr>
        </p:nvSpPr>
        <p:spPr>
          <a:xfrm>
            <a:off x="1431175" y="3334300"/>
            <a:ext cx="6281400" cy="1184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1pPr>
            <a:lvl2pPr lvl="1"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2pPr>
            <a:lvl3pPr lvl="2"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3pPr>
            <a:lvl4pPr lvl="3"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4pPr>
            <a:lvl5pPr lvl="4"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5pPr>
            <a:lvl6pPr lvl="5"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6pPr>
            <a:lvl7pPr lvl="6"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7pPr>
            <a:lvl8pPr lvl="7"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8pPr>
            <a:lvl9pPr lvl="8" algn="ctr">
              <a:lnSpc>
                <a:spcPct val="100000"/>
              </a:lnSpc>
              <a:spcBef>
                <a:spcPts val="0"/>
              </a:spcBef>
              <a:spcAft>
                <a:spcPts val="0"/>
              </a:spcAft>
              <a:buSzPts val="1400"/>
              <a:buFont typeface="Didact Gothic"/>
              <a:buNone/>
              <a:defRPr>
                <a:latin typeface="Didact Gothic"/>
                <a:ea typeface="Didact Gothic"/>
                <a:cs typeface="Didact Gothic"/>
                <a:sym typeface="Didact Gothic"/>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2">
    <p:bg>
      <p:bgPr>
        <a:solidFill>
          <a:schemeClr val="accent5"/>
        </a:solidFill>
        <a:effectLst/>
      </p:bgPr>
    </p:bg>
    <p:spTree>
      <p:nvGrpSpPr>
        <p:cNvPr id="1" name="Shape 359"/>
        <p:cNvGrpSpPr/>
        <p:nvPr/>
      </p:nvGrpSpPr>
      <p:grpSpPr>
        <a:xfrm>
          <a:off x="0" y="0"/>
          <a:ext cx="0" cy="0"/>
          <a:chOff x="0" y="0"/>
          <a:chExt cx="0" cy="0"/>
        </a:xfrm>
      </p:grpSpPr>
      <p:sp>
        <p:nvSpPr>
          <p:cNvPr id="360" name="Google Shape;360;p48"/>
          <p:cNvSpPr txBox="1">
            <a:spLocks noGrp="1"/>
          </p:cNvSpPr>
          <p:nvPr>
            <p:ph type="subTitle" idx="1"/>
          </p:nvPr>
        </p:nvSpPr>
        <p:spPr>
          <a:xfrm>
            <a:off x="833927" y="2641577"/>
            <a:ext cx="3100800" cy="990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a:endParaRPr/>
          </a:p>
        </p:txBody>
      </p:sp>
      <p:sp>
        <p:nvSpPr>
          <p:cNvPr id="361" name="Google Shape;361;p48"/>
          <p:cNvSpPr txBox="1">
            <a:spLocks noGrp="1"/>
          </p:cNvSpPr>
          <p:nvPr>
            <p:ph type="subTitle" idx="2"/>
          </p:nvPr>
        </p:nvSpPr>
        <p:spPr>
          <a:xfrm>
            <a:off x="5209273" y="2641577"/>
            <a:ext cx="3100800" cy="990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a:endParaRPr/>
          </a:p>
        </p:txBody>
      </p:sp>
      <p:sp>
        <p:nvSpPr>
          <p:cNvPr id="362" name="Google Shape;362;p48"/>
          <p:cNvSpPr txBox="1">
            <a:spLocks noGrp="1"/>
          </p:cNvSpPr>
          <p:nvPr>
            <p:ph type="title"/>
          </p:nvPr>
        </p:nvSpPr>
        <p:spPr>
          <a:xfrm>
            <a:off x="1554977" y="1985760"/>
            <a:ext cx="1658700" cy="30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000"/>
              <a:buNone/>
              <a:defRPr sz="3000" b="1">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a:endParaRPr/>
          </a:p>
        </p:txBody>
      </p:sp>
      <p:sp>
        <p:nvSpPr>
          <p:cNvPr id="363" name="Google Shape;363;p48"/>
          <p:cNvSpPr txBox="1">
            <a:spLocks noGrp="1"/>
          </p:cNvSpPr>
          <p:nvPr>
            <p:ph type="title" idx="3"/>
          </p:nvPr>
        </p:nvSpPr>
        <p:spPr>
          <a:xfrm>
            <a:off x="5930323" y="1985760"/>
            <a:ext cx="1658700" cy="30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3000"/>
              <a:buNone/>
              <a:defRPr sz="3000" b="1">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a:endParaRPr/>
          </a:p>
        </p:txBody>
      </p:sp>
      <p:sp>
        <p:nvSpPr>
          <p:cNvPr id="364" name="Google Shape;364;p48"/>
          <p:cNvSpPr/>
          <p:nvPr/>
        </p:nvSpPr>
        <p:spPr>
          <a:xfrm rot="10800000">
            <a:off x="3588450" y="-22625"/>
            <a:ext cx="1967100" cy="8859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CUSTOM_26_3">
    <p:bg>
      <p:bgPr>
        <a:solidFill>
          <a:schemeClr val="accent5"/>
        </a:solidFill>
        <a:effectLst/>
      </p:bgPr>
    </p:bg>
    <p:spTree>
      <p:nvGrpSpPr>
        <p:cNvPr id="1" name="Shape 398"/>
        <p:cNvGrpSpPr/>
        <p:nvPr/>
      </p:nvGrpSpPr>
      <p:grpSpPr>
        <a:xfrm>
          <a:off x="0" y="0"/>
          <a:ext cx="0" cy="0"/>
          <a:chOff x="0" y="0"/>
          <a:chExt cx="0" cy="0"/>
        </a:xfrm>
      </p:grpSpPr>
      <p:sp>
        <p:nvSpPr>
          <p:cNvPr id="399" name="Google Shape;399;p53"/>
          <p:cNvSpPr txBox="1">
            <a:spLocks noGrp="1"/>
          </p:cNvSpPr>
          <p:nvPr>
            <p:ph type="title"/>
          </p:nvPr>
        </p:nvSpPr>
        <p:spPr>
          <a:xfrm>
            <a:off x="1974300" y="530725"/>
            <a:ext cx="5195400" cy="528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500"/>
              <a:buNone/>
              <a:defRPr sz="3000" b="1">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a:endParaRPr/>
          </a:p>
        </p:txBody>
      </p:sp>
      <p:sp>
        <p:nvSpPr>
          <p:cNvPr id="400" name="Google Shape;400;p53"/>
          <p:cNvSpPr txBox="1">
            <a:spLocks noGrp="1"/>
          </p:cNvSpPr>
          <p:nvPr>
            <p:ph type="subTitle" idx="1"/>
          </p:nvPr>
        </p:nvSpPr>
        <p:spPr>
          <a:xfrm>
            <a:off x="1742675" y="3508850"/>
            <a:ext cx="2379600" cy="67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401" name="Google Shape;401;p53"/>
          <p:cNvSpPr txBox="1">
            <a:spLocks noGrp="1"/>
          </p:cNvSpPr>
          <p:nvPr>
            <p:ph type="subTitle" idx="2"/>
          </p:nvPr>
        </p:nvSpPr>
        <p:spPr>
          <a:xfrm>
            <a:off x="5021770" y="3508850"/>
            <a:ext cx="2379600" cy="67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402" name="Google Shape;402;p53"/>
          <p:cNvSpPr txBox="1">
            <a:spLocks noGrp="1"/>
          </p:cNvSpPr>
          <p:nvPr>
            <p:ph type="title" idx="3"/>
          </p:nvPr>
        </p:nvSpPr>
        <p:spPr>
          <a:xfrm>
            <a:off x="1865338" y="3248250"/>
            <a:ext cx="2134200" cy="30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1800"/>
              <a:buNone/>
              <a:defRPr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403" name="Google Shape;403;p53"/>
          <p:cNvSpPr txBox="1">
            <a:spLocks noGrp="1"/>
          </p:cNvSpPr>
          <p:nvPr>
            <p:ph type="title" idx="4"/>
          </p:nvPr>
        </p:nvSpPr>
        <p:spPr>
          <a:xfrm>
            <a:off x="5144462" y="3248250"/>
            <a:ext cx="2134200" cy="308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1800"/>
              <a:buNone/>
              <a:defRPr sz="18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404" name="Google Shape;404;p53"/>
          <p:cNvSpPr/>
          <p:nvPr/>
        </p:nvSpPr>
        <p:spPr>
          <a:xfrm rot="10800000" flipH="1">
            <a:off x="0" y="-36200"/>
            <a:ext cx="2292600" cy="20841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3"/>
          <p:cNvSpPr/>
          <p:nvPr/>
        </p:nvSpPr>
        <p:spPr>
          <a:xfrm>
            <a:off x="6053100" y="3064825"/>
            <a:ext cx="5364900" cy="25164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bg>
      <p:bgPr>
        <a:solidFill>
          <a:schemeClr val="accent5"/>
        </a:solidFill>
        <a:effectLst/>
      </p:bgPr>
    </p:bg>
    <p:spTree>
      <p:nvGrpSpPr>
        <p:cNvPr id="1" name="Shape 228"/>
        <p:cNvGrpSpPr/>
        <p:nvPr/>
      </p:nvGrpSpPr>
      <p:grpSpPr>
        <a:xfrm>
          <a:off x="0" y="0"/>
          <a:ext cx="0" cy="0"/>
          <a:chOff x="0" y="0"/>
          <a:chExt cx="0" cy="0"/>
        </a:xfrm>
      </p:grpSpPr>
      <p:sp>
        <p:nvSpPr>
          <p:cNvPr id="229" name="Google Shape;229;p33"/>
          <p:cNvSpPr txBox="1">
            <a:spLocks noGrp="1"/>
          </p:cNvSpPr>
          <p:nvPr>
            <p:ph type="title"/>
          </p:nvPr>
        </p:nvSpPr>
        <p:spPr>
          <a:xfrm>
            <a:off x="2056190" y="2074300"/>
            <a:ext cx="2227200" cy="325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230" name="Google Shape;230;p33"/>
          <p:cNvSpPr txBox="1">
            <a:spLocks noGrp="1"/>
          </p:cNvSpPr>
          <p:nvPr>
            <p:ph type="subTitle" idx="1"/>
          </p:nvPr>
        </p:nvSpPr>
        <p:spPr>
          <a:xfrm>
            <a:off x="2056192" y="2332425"/>
            <a:ext cx="2227200" cy="508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231" name="Google Shape;231;p33"/>
          <p:cNvSpPr txBox="1">
            <a:spLocks noGrp="1"/>
          </p:cNvSpPr>
          <p:nvPr>
            <p:ph type="title" idx="2"/>
          </p:nvPr>
        </p:nvSpPr>
        <p:spPr>
          <a:xfrm>
            <a:off x="2056190" y="3402924"/>
            <a:ext cx="2227200" cy="325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232" name="Google Shape;232;p33"/>
          <p:cNvSpPr txBox="1">
            <a:spLocks noGrp="1"/>
          </p:cNvSpPr>
          <p:nvPr>
            <p:ph type="subTitle" idx="3"/>
          </p:nvPr>
        </p:nvSpPr>
        <p:spPr>
          <a:xfrm>
            <a:off x="2056192" y="3661050"/>
            <a:ext cx="2227200" cy="508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233" name="Google Shape;233;p33"/>
          <p:cNvSpPr txBox="1">
            <a:spLocks noGrp="1"/>
          </p:cNvSpPr>
          <p:nvPr>
            <p:ph type="title" idx="4"/>
          </p:nvPr>
        </p:nvSpPr>
        <p:spPr>
          <a:xfrm>
            <a:off x="5444664" y="2074300"/>
            <a:ext cx="2227200" cy="325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234" name="Google Shape;234;p33"/>
          <p:cNvSpPr txBox="1">
            <a:spLocks noGrp="1"/>
          </p:cNvSpPr>
          <p:nvPr>
            <p:ph type="subTitle" idx="5"/>
          </p:nvPr>
        </p:nvSpPr>
        <p:spPr>
          <a:xfrm>
            <a:off x="5444664" y="2332425"/>
            <a:ext cx="2227200" cy="508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235" name="Google Shape;235;p33"/>
          <p:cNvSpPr txBox="1">
            <a:spLocks noGrp="1"/>
          </p:cNvSpPr>
          <p:nvPr>
            <p:ph type="title" idx="6"/>
          </p:nvPr>
        </p:nvSpPr>
        <p:spPr>
          <a:xfrm>
            <a:off x="5444664" y="3402925"/>
            <a:ext cx="2227200" cy="3252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1"/>
              </a:buClr>
              <a:buSzPts val="1800"/>
              <a:buNone/>
              <a:defRPr sz="1800" b="1">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a:endParaRPr/>
          </a:p>
        </p:txBody>
      </p:sp>
      <p:sp>
        <p:nvSpPr>
          <p:cNvPr id="236" name="Google Shape;236;p33"/>
          <p:cNvSpPr txBox="1">
            <a:spLocks noGrp="1"/>
          </p:cNvSpPr>
          <p:nvPr>
            <p:ph type="subTitle" idx="7"/>
          </p:nvPr>
        </p:nvSpPr>
        <p:spPr>
          <a:xfrm>
            <a:off x="5444664" y="3661050"/>
            <a:ext cx="2227200" cy="508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1pPr>
            <a:lvl2pPr lvl="1"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2pPr>
            <a:lvl3pPr lvl="2"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3pPr>
            <a:lvl4pPr lvl="3"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4pPr>
            <a:lvl5pPr lvl="4"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5pPr>
            <a:lvl6pPr lvl="5"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6pPr>
            <a:lvl7pPr lvl="6"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7pPr>
            <a:lvl8pPr lvl="7"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8pPr>
            <a:lvl9pPr lvl="8" algn="ctr">
              <a:lnSpc>
                <a:spcPct val="100000"/>
              </a:lnSpc>
              <a:spcBef>
                <a:spcPts val="0"/>
              </a:spcBef>
              <a:spcAft>
                <a:spcPts val="0"/>
              </a:spcAft>
              <a:buClr>
                <a:schemeClr val="dk1"/>
              </a:buClr>
              <a:buSzPts val="1400"/>
              <a:buFont typeface="Didact Gothic"/>
              <a:buNone/>
              <a:defRPr>
                <a:solidFill>
                  <a:schemeClr val="dk1"/>
                </a:solidFill>
                <a:latin typeface="Didact Gothic"/>
                <a:ea typeface="Didact Gothic"/>
                <a:cs typeface="Didact Gothic"/>
                <a:sym typeface="Didact Gothic"/>
              </a:defRPr>
            </a:lvl9pPr>
          </a:lstStyle>
          <a:p>
            <a:endParaRPr/>
          </a:p>
        </p:txBody>
      </p:sp>
      <p:sp>
        <p:nvSpPr>
          <p:cNvPr id="237" name="Google Shape;237;p33"/>
          <p:cNvSpPr/>
          <p:nvPr/>
        </p:nvSpPr>
        <p:spPr>
          <a:xfrm>
            <a:off x="-1462325" y="2386850"/>
            <a:ext cx="3405900" cy="33024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8" name="Google Shape;238;p33"/>
          <p:cNvSpPr/>
          <p:nvPr/>
        </p:nvSpPr>
        <p:spPr>
          <a:xfrm>
            <a:off x="-1681400" y="248210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9" name="Google Shape;239;p33"/>
          <p:cNvSpPr/>
          <p:nvPr/>
        </p:nvSpPr>
        <p:spPr>
          <a:xfrm rot="10800000">
            <a:off x="6132775" y="-915550"/>
            <a:ext cx="3405900" cy="33024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40" name="Google Shape;240;p33"/>
          <p:cNvSpPr txBox="1">
            <a:spLocks noGrp="1"/>
          </p:cNvSpPr>
          <p:nvPr>
            <p:ph type="title" idx="8"/>
          </p:nvPr>
        </p:nvSpPr>
        <p:spPr>
          <a:xfrm>
            <a:off x="716550" y="530725"/>
            <a:ext cx="7710900" cy="528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2500"/>
              <a:buNone/>
              <a:defRPr sz="3000" b="1">
                <a:solidFill>
                  <a:schemeClr val="dk1"/>
                </a:solidFill>
              </a:defRPr>
            </a:lvl1pPr>
            <a:lvl2pPr lvl="1" algn="ctr">
              <a:spcBef>
                <a:spcPts val="0"/>
              </a:spcBef>
              <a:spcAft>
                <a:spcPts val="0"/>
              </a:spcAft>
              <a:buClr>
                <a:schemeClr val="dk1"/>
              </a:buClr>
              <a:buSzPts val="2500"/>
              <a:buNone/>
              <a:defRPr b="1">
                <a:solidFill>
                  <a:schemeClr val="dk1"/>
                </a:solidFill>
              </a:defRPr>
            </a:lvl2pPr>
            <a:lvl3pPr lvl="2" algn="ctr">
              <a:spcBef>
                <a:spcPts val="0"/>
              </a:spcBef>
              <a:spcAft>
                <a:spcPts val="0"/>
              </a:spcAft>
              <a:buClr>
                <a:schemeClr val="dk1"/>
              </a:buClr>
              <a:buSzPts val="2500"/>
              <a:buNone/>
              <a:defRPr b="1">
                <a:solidFill>
                  <a:schemeClr val="dk1"/>
                </a:solidFill>
              </a:defRPr>
            </a:lvl3pPr>
            <a:lvl4pPr lvl="3" algn="ctr">
              <a:spcBef>
                <a:spcPts val="0"/>
              </a:spcBef>
              <a:spcAft>
                <a:spcPts val="0"/>
              </a:spcAft>
              <a:buClr>
                <a:schemeClr val="dk1"/>
              </a:buClr>
              <a:buSzPts val="2500"/>
              <a:buNone/>
              <a:defRPr b="1">
                <a:solidFill>
                  <a:schemeClr val="dk1"/>
                </a:solidFill>
              </a:defRPr>
            </a:lvl4pPr>
            <a:lvl5pPr lvl="4" algn="ctr">
              <a:spcBef>
                <a:spcPts val="0"/>
              </a:spcBef>
              <a:spcAft>
                <a:spcPts val="0"/>
              </a:spcAft>
              <a:buClr>
                <a:schemeClr val="dk1"/>
              </a:buClr>
              <a:buSzPts val="2500"/>
              <a:buNone/>
              <a:defRPr b="1">
                <a:solidFill>
                  <a:schemeClr val="dk1"/>
                </a:solidFill>
              </a:defRPr>
            </a:lvl5pPr>
            <a:lvl6pPr lvl="5" algn="ctr">
              <a:spcBef>
                <a:spcPts val="0"/>
              </a:spcBef>
              <a:spcAft>
                <a:spcPts val="0"/>
              </a:spcAft>
              <a:buClr>
                <a:schemeClr val="dk1"/>
              </a:buClr>
              <a:buSzPts val="2500"/>
              <a:buNone/>
              <a:defRPr b="1">
                <a:solidFill>
                  <a:schemeClr val="dk1"/>
                </a:solidFill>
              </a:defRPr>
            </a:lvl6pPr>
            <a:lvl7pPr lvl="6" algn="ctr">
              <a:spcBef>
                <a:spcPts val="0"/>
              </a:spcBef>
              <a:spcAft>
                <a:spcPts val="0"/>
              </a:spcAft>
              <a:buClr>
                <a:schemeClr val="dk1"/>
              </a:buClr>
              <a:buSzPts val="2500"/>
              <a:buNone/>
              <a:defRPr b="1">
                <a:solidFill>
                  <a:schemeClr val="dk1"/>
                </a:solidFill>
              </a:defRPr>
            </a:lvl7pPr>
            <a:lvl8pPr lvl="7" algn="ctr">
              <a:spcBef>
                <a:spcPts val="0"/>
              </a:spcBef>
              <a:spcAft>
                <a:spcPts val="0"/>
              </a:spcAft>
              <a:buClr>
                <a:schemeClr val="dk1"/>
              </a:buClr>
              <a:buSzPts val="2500"/>
              <a:buNone/>
              <a:defRPr b="1">
                <a:solidFill>
                  <a:schemeClr val="dk1"/>
                </a:solidFill>
              </a:defRPr>
            </a:lvl8pPr>
            <a:lvl9pPr lvl="8" algn="ctr">
              <a:spcBef>
                <a:spcPts val="0"/>
              </a:spcBef>
              <a:spcAft>
                <a:spcPts val="0"/>
              </a:spcAft>
              <a:buClr>
                <a:schemeClr val="dk1"/>
              </a:buClr>
              <a:buSzPts val="2500"/>
              <a:buNone/>
              <a:defRPr b="1">
                <a:solidFill>
                  <a:schemeClr val="dk1"/>
                </a:solidFill>
              </a:defRPr>
            </a:lvl9pPr>
          </a:lstStyle>
          <a:p>
            <a:endParaRPr/>
          </a:p>
        </p:txBody>
      </p:sp>
    </p:spTree>
    <p:extLst>
      <p:ext uri="{BB962C8B-B14F-4D97-AF65-F5344CB8AC3E}">
        <p14:creationId xmlns:p14="http://schemas.microsoft.com/office/powerpoint/2010/main" val="2740660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6250" y="597425"/>
            <a:ext cx="7891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1pPr>
            <a:lvl2pPr lvl="1">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2pPr>
            <a:lvl3pPr lvl="2">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3pPr>
            <a:lvl4pPr lvl="3">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4pPr>
            <a:lvl5pPr lvl="4">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5pPr>
            <a:lvl6pPr lvl="5">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6pPr>
            <a:lvl7pPr lvl="6">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7pPr>
            <a:lvl8pPr lvl="7">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8pPr>
            <a:lvl9pPr lvl="8">
              <a:spcBef>
                <a:spcPts val="0"/>
              </a:spcBef>
              <a:spcAft>
                <a:spcPts val="0"/>
              </a:spcAft>
              <a:buClr>
                <a:schemeClr val="dk1"/>
              </a:buClr>
              <a:buSzPts val="2500"/>
              <a:buFont typeface="Julius Sans One"/>
              <a:buNone/>
              <a:defRPr sz="2500">
                <a:solidFill>
                  <a:schemeClr val="dk1"/>
                </a:solidFill>
                <a:latin typeface="Julius Sans One"/>
                <a:ea typeface="Julius Sans One"/>
                <a:cs typeface="Julius Sans One"/>
                <a:sym typeface="Julius Sans One"/>
              </a:defRPr>
            </a:lvl9pPr>
          </a:lstStyle>
          <a:p>
            <a:endParaRPr/>
          </a:p>
        </p:txBody>
      </p:sp>
      <p:sp>
        <p:nvSpPr>
          <p:cNvPr id="7" name="Google Shape;7;p1"/>
          <p:cNvSpPr txBox="1">
            <a:spLocks noGrp="1"/>
          </p:cNvSpPr>
          <p:nvPr>
            <p:ph type="body" idx="1"/>
          </p:nvPr>
        </p:nvSpPr>
        <p:spPr>
          <a:xfrm>
            <a:off x="626250" y="1304875"/>
            <a:ext cx="7891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1pPr>
            <a:lvl2pPr marL="914400" lvl="1" indent="-3175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2pPr>
            <a:lvl3pPr marL="1371600" lvl="2" indent="-3175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3pPr>
            <a:lvl4pPr marL="1828800" lvl="3" indent="-3175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4pPr>
            <a:lvl5pPr marL="2286000" lvl="4" indent="-3175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5pPr>
            <a:lvl6pPr marL="2743200" lvl="5" indent="-3175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6pPr>
            <a:lvl7pPr marL="3200400" lvl="6" indent="-3175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7pPr>
            <a:lvl8pPr marL="3657600" lvl="7" indent="-3175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8pPr>
            <a:lvl9pPr marL="4114800" lvl="8" indent="-317500">
              <a:lnSpc>
                <a:spcPct val="115000"/>
              </a:lnSpc>
              <a:spcBef>
                <a:spcPts val="0"/>
              </a:spcBef>
              <a:spcAft>
                <a:spcPts val="0"/>
              </a:spcAft>
              <a:buClr>
                <a:schemeClr val="dk1"/>
              </a:buClr>
              <a:buSzPts val="1400"/>
              <a:buFont typeface="Questrial"/>
              <a:buChar char="■"/>
              <a:defRPr>
                <a:solidFill>
                  <a:schemeClr val="dk1"/>
                </a:solidFill>
                <a:latin typeface="Questrial"/>
                <a:ea typeface="Questrial"/>
                <a:cs typeface="Questrial"/>
                <a:sym typeface="Quest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5" r:id="rId6"/>
    <p:sldLayoutId id="2147483656" r:id="rId7"/>
    <p:sldLayoutId id="2147483658" r:id="rId8"/>
    <p:sldLayoutId id="2147483660" r:id="rId9"/>
    <p:sldLayoutId id="2147483666" r:id="rId10"/>
    <p:sldLayoutId id="2147483683" r:id="rId11"/>
    <p:sldLayoutId id="2147483693" r:id="rId12"/>
    <p:sldLayoutId id="2147483694" r:id="rId13"/>
    <p:sldLayoutId id="2147483699" r:id="rId14"/>
    <p:sldLayoutId id="2147483710"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hyperlink" Target="https://www.kaggle.com/datasets/mehmettahiraslan/customer-shopping-dataset"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6000">
              <a:schemeClr val="accent3">
                <a:lumMod val="5000"/>
                <a:lumOff val="95000"/>
                <a:alpha val="85591"/>
              </a:schemeClr>
            </a:gs>
            <a:gs pos="100000">
              <a:schemeClr val="accent3">
                <a:lumMod val="45000"/>
                <a:lumOff val="55000"/>
              </a:schemeClr>
            </a:gs>
            <a:gs pos="44000">
              <a:schemeClr val="accent3">
                <a:alpha val="40533"/>
                <a:lumMod val="68000"/>
                <a:lumOff val="32000"/>
              </a:schemeClr>
            </a:gs>
            <a:gs pos="100000">
              <a:schemeClr val="accent3">
                <a:lumMod val="44000"/>
                <a:lumOff val="56000"/>
              </a:schemeClr>
            </a:gs>
          </a:gsLst>
          <a:lin ang="0" scaled="1"/>
        </a:gradFill>
        <a:effectLst/>
      </p:bgPr>
    </p:bg>
    <p:spTree>
      <p:nvGrpSpPr>
        <p:cNvPr id="1" name="Shape 438"/>
        <p:cNvGrpSpPr/>
        <p:nvPr/>
      </p:nvGrpSpPr>
      <p:grpSpPr>
        <a:xfrm>
          <a:off x="0" y="0"/>
          <a:ext cx="0" cy="0"/>
          <a:chOff x="0" y="0"/>
          <a:chExt cx="0" cy="0"/>
        </a:xfrm>
      </p:grpSpPr>
      <p:sp>
        <p:nvSpPr>
          <p:cNvPr id="439" name="Google Shape;439;p63"/>
          <p:cNvSpPr txBox="1">
            <a:spLocks noGrp="1"/>
          </p:cNvSpPr>
          <p:nvPr>
            <p:ph type="ctrTitle"/>
          </p:nvPr>
        </p:nvSpPr>
        <p:spPr>
          <a:xfrm>
            <a:off x="574288" y="1581331"/>
            <a:ext cx="7995424" cy="1447619"/>
          </a:xfrm>
          <a:prstGeom prst="rect">
            <a:avLst/>
          </a:prstGeom>
        </p:spPr>
        <p:txBody>
          <a:bodyPr spcFirstLastPara="1" wrap="square" lIns="91425" tIns="91425" rIns="91425" bIns="91425" anchor="b" anchorCtr="0">
            <a:noAutofit/>
          </a:bodyPr>
          <a:lstStyle/>
          <a:p>
            <a:pPr algn="ctr"/>
            <a:r>
              <a:rPr lang="en-IN" b="1" dirty="0">
                <a:solidFill>
                  <a:schemeClr val="tx1"/>
                </a:solidFill>
              </a:rPr>
              <a:t>Customer </a:t>
            </a:r>
            <a:br>
              <a:rPr lang="en-IN" b="1" dirty="0">
                <a:solidFill>
                  <a:schemeClr val="tx1"/>
                </a:solidFill>
              </a:rPr>
            </a:br>
            <a:r>
              <a:rPr lang="en-IN" b="1" dirty="0">
                <a:solidFill>
                  <a:schemeClr val="tx1"/>
                </a:solidFill>
              </a:rPr>
              <a:t>Shopping Insights Analysis</a:t>
            </a:r>
            <a:endParaRPr lang="en-IN" dirty="0">
              <a:solidFill>
                <a:schemeClr val="tx1"/>
              </a:solidFill>
            </a:endParaRPr>
          </a:p>
        </p:txBody>
      </p:sp>
      <p:sp>
        <p:nvSpPr>
          <p:cNvPr id="440" name="Google Shape;440;p63"/>
          <p:cNvSpPr txBox="1">
            <a:spLocks noGrp="1"/>
          </p:cNvSpPr>
          <p:nvPr>
            <p:ph type="subTitle" idx="1"/>
          </p:nvPr>
        </p:nvSpPr>
        <p:spPr>
          <a:xfrm>
            <a:off x="4738735" y="4016555"/>
            <a:ext cx="3830977" cy="792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solidFill>
                  <a:schemeClr val="tx1"/>
                </a:solidFill>
                <a:latin typeface="Times New Roman" panose="02020603050405020304" pitchFamily="18" charset="0"/>
                <a:cs typeface="Times New Roman" panose="02020603050405020304" pitchFamily="18" charset="0"/>
              </a:rPr>
              <a:t>Power bi project report </a:t>
            </a:r>
          </a:p>
          <a:p>
            <a:pPr marL="0" lvl="0" indent="0" algn="r" rtl="0">
              <a:spcBef>
                <a:spcPts val="0"/>
              </a:spcBef>
              <a:spcAft>
                <a:spcPts val="0"/>
              </a:spcAft>
              <a:buNone/>
            </a:pPr>
            <a:r>
              <a:rPr lang="en" dirty="0">
                <a:solidFill>
                  <a:schemeClr val="tx1"/>
                </a:solidFill>
                <a:latin typeface="Times New Roman" panose="02020603050405020304" pitchFamily="18" charset="0"/>
                <a:cs typeface="Times New Roman" panose="02020603050405020304" pitchFamily="18" charset="0"/>
              </a:rPr>
              <a:t>Submitted by:</a:t>
            </a:r>
          </a:p>
          <a:p>
            <a:pPr marL="0" lvl="0" indent="0" algn="r" rtl="0">
              <a:spcBef>
                <a:spcPts val="0"/>
              </a:spcBef>
              <a:spcAft>
                <a:spcPts val="0"/>
              </a:spcAft>
              <a:buNone/>
            </a:pPr>
            <a:r>
              <a:rPr lang="en" dirty="0">
                <a:solidFill>
                  <a:schemeClr val="tx1"/>
                </a:solidFill>
                <a:latin typeface="Times New Roman" panose="02020603050405020304" pitchFamily="18" charset="0"/>
                <a:cs typeface="Times New Roman" panose="02020603050405020304" pitchFamily="18" charset="0"/>
              </a:rPr>
              <a:t> AADI SREEKUMAR</a:t>
            </a:r>
          </a:p>
          <a:p>
            <a:pPr marL="0" lvl="0" indent="0" algn="r" rtl="0">
              <a:spcBef>
                <a:spcPts val="0"/>
              </a:spcBef>
              <a:spcAft>
                <a:spcPts val="0"/>
              </a:spcAft>
              <a:buNone/>
            </a:pPr>
            <a:endParaRPr dirty="0"/>
          </a:p>
        </p:txBody>
      </p:sp>
      <p:cxnSp>
        <p:nvCxnSpPr>
          <p:cNvPr id="441" name="Google Shape;441;p63"/>
          <p:cNvCxnSpPr/>
          <p:nvPr/>
        </p:nvCxnSpPr>
        <p:spPr>
          <a:xfrm>
            <a:off x="7825897" y="4016555"/>
            <a:ext cx="647100" cy="0"/>
          </a:xfrm>
          <a:prstGeom prst="straightConnector1">
            <a:avLst/>
          </a:prstGeom>
          <a:noFill/>
          <a:ln w="19050" cap="flat" cmpd="sng">
            <a:solidFill>
              <a:schemeClr val="lt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64"/>
          <p:cNvSpPr txBox="1">
            <a:spLocks noGrp="1"/>
          </p:cNvSpPr>
          <p:nvPr>
            <p:ph type="title"/>
          </p:nvPr>
        </p:nvSpPr>
        <p:spPr>
          <a:xfrm>
            <a:off x="626250" y="597425"/>
            <a:ext cx="789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1"/>
                </a:solidFill>
              </a:rPr>
              <a:t>INTRODUCTION  </a:t>
            </a:r>
            <a:endParaRPr dirty="0">
              <a:solidFill>
                <a:schemeClr val="dk1"/>
              </a:solidFill>
              <a:latin typeface=""/>
            </a:endParaRPr>
          </a:p>
        </p:txBody>
      </p:sp>
      <p:sp>
        <p:nvSpPr>
          <p:cNvPr id="447" name="Google Shape;447;p64"/>
          <p:cNvSpPr txBox="1">
            <a:spLocks noGrp="1"/>
          </p:cNvSpPr>
          <p:nvPr>
            <p:ph type="body" idx="1"/>
          </p:nvPr>
        </p:nvSpPr>
        <p:spPr>
          <a:xfrm>
            <a:off x="626250" y="1152475"/>
            <a:ext cx="7267800" cy="3416400"/>
          </a:xfrm>
          <a:prstGeom prst="rect">
            <a:avLst/>
          </a:prstGeom>
        </p:spPr>
        <p:txBody>
          <a:bodyPr spcFirstLastPara="1" wrap="square" lIns="91425" tIns="91425" rIns="91425" bIns="91425" anchor="t" anchorCtr="0">
            <a:noAutofit/>
          </a:bodyPr>
          <a:lstStyle/>
          <a:p>
            <a:endParaRPr lang="en-IN" dirty="0">
              <a:latin typeface=""/>
            </a:endParaRPr>
          </a:p>
          <a:p>
            <a:pPr marL="139700" indent="0" algn="just">
              <a:buNone/>
            </a:pPr>
            <a:r>
              <a:rPr lang="en-IN" sz="1600" dirty="0">
                <a:latin typeface="Times New Roman" panose="02020603050405020304" pitchFamily="18" charset="0"/>
                <a:cs typeface="Times New Roman" panose="02020603050405020304" pitchFamily="18" charset="0"/>
              </a:rPr>
              <a:t>In today’s retail world, data is everywhere from what customers buy to how they pay. This project focuses on </a:t>
            </a:r>
            <a:r>
              <a:rPr lang="en-IN" sz="1600" dirty="0" err="1">
                <a:latin typeface="Times New Roman" panose="02020603050405020304" pitchFamily="18" charset="0"/>
                <a:cs typeface="Times New Roman" panose="02020603050405020304" pitchFamily="18" charset="0"/>
              </a:rPr>
              <a:t>analyzing</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Customer Shopping Data</a:t>
            </a:r>
            <a:r>
              <a:rPr lang="en-IN" sz="1600" dirty="0">
                <a:latin typeface="Times New Roman" panose="02020603050405020304" pitchFamily="18" charset="0"/>
                <a:cs typeface="Times New Roman" panose="02020603050405020304" pitchFamily="18" charset="0"/>
              </a:rPr>
              <a:t> using </a:t>
            </a:r>
            <a:r>
              <a:rPr lang="en-IN" sz="1600" b="1" dirty="0">
                <a:latin typeface="Times New Roman" panose="02020603050405020304" pitchFamily="18" charset="0"/>
                <a:cs typeface="Times New Roman" panose="02020603050405020304" pitchFamily="18" charset="0"/>
              </a:rPr>
              <a:t>Power BI</a:t>
            </a:r>
            <a:r>
              <a:rPr lang="en-IN" sz="1600" dirty="0">
                <a:latin typeface="Times New Roman" panose="02020603050405020304" pitchFamily="18" charset="0"/>
                <a:cs typeface="Times New Roman" panose="02020603050405020304" pitchFamily="18" charset="0"/>
              </a:rPr>
              <a:t>, a powerful tool for data visualization and business analytics. The dataset captures essential details such as age, gender, shopping categories, quantities, prices, and payment preferences across multiple shopping malls.</a:t>
            </a:r>
          </a:p>
          <a:p>
            <a:pPr marL="139700" indent="0" algn="just">
              <a:buNone/>
            </a:pPr>
            <a:endParaRPr lang="en-IN" sz="1600" dirty="0">
              <a:latin typeface="Times New Roman" panose="02020603050405020304" pitchFamily="18" charset="0"/>
              <a:cs typeface="Times New Roman" panose="02020603050405020304" pitchFamily="18" charset="0"/>
            </a:endParaRPr>
          </a:p>
          <a:p>
            <a:pPr marL="139700" indent="0" algn="just">
              <a:buNone/>
            </a:pPr>
            <a:r>
              <a:rPr lang="en-IN" sz="1600" dirty="0">
                <a:latin typeface="Times New Roman" panose="02020603050405020304" pitchFamily="18" charset="0"/>
                <a:cs typeface="Times New Roman" panose="02020603050405020304" pitchFamily="18" charset="0"/>
              </a:rPr>
              <a:t>These insights help businesses make smarter decisions, improve customer satisfaction, and drive sales growth.</a:t>
            </a:r>
          </a:p>
          <a:p>
            <a:pPr marL="0" lvl="0" indent="0" algn="just" rtl="0">
              <a:spcBef>
                <a:spcPts val="0"/>
              </a:spcBef>
              <a:spcAft>
                <a:spcPts val="0"/>
              </a:spcAft>
              <a:buNone/>
            </a:pPr>
            <a:endParaRPr lang="en-IN" sz="950" u="none" dirty="0">
              <a:solidFill>
                <a:schemeClr val="dk1"/>
              </a:solidFill>
              <a:latin typeface="Didact Gothic"/>
              <a:ea typeface="Didact Gothic"/>
              <a:cs typeface="Didact Gothic"/>
              <a:sym typeface="Didact Gothic"/>
            </a:endParaRPr>
          </a:p>
        </p:txBody>
      </p:sp>
      <p:cxnSp>
        <p:nvCxnSpPr>
          <p:cNvPr id="448" name="Google Shape;448;p64"/>
          <p:cNvCxnSpPr/>
          <p:nvPr/>
        </p:nvCxnSpPr>
        <p:spPr>
          <a:xfrm>
            <a:off x="819525" y="1139736"/>
            <a:ext cx="6471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605502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6"/>
          <p:cNvSpPr txBox="1">
            <a:spLocks noGrp="1"/>
          </p:cNvSpPr>
          <p:nvPr>
            <p:ph type="title" idx="15"/>
          </p:nvPr>
        </p:nvSpPr>
        <p:spPr>
          <a:xfrm>
            <a:off x="713225" y="2198800"/>
            <a:ext cx="3416400" cy="52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solidFill>
                  <a:schemeClr val="lt1"/>
                </a:solidFill>
              </a:rPr>
              <a:t>Table of contents</a:t>
            </a:r>
            <a:endParaRPr b="1" dirty="0">
              <a:solidFill>
                <a:schemeClr val="lt1"/>
              </a:solidFill>
            </a:endParaRPr>
          </a:p>
        </p:txBody>
      </p:sp>
      <p:cxnSp>
        <p:nvCxnSpPr>
          <p:cNvPr id="473" name="Google Shape;473;p66"/>
          <p:cNvCxnSpPr/>
          <p:nvPr/>
        </p:nvCxnSpPr>
        <p:spPr>
          <a:xfrm>
            <a:off x="819525" y="3102205"/>
            <a:ext cx="647100" cy="0"/>
          </a:xfrm>
          <a:prstGeom prst="straightConnector1">
            <a:avLst/>
          </a:prstGeom>
          <a:noFill/>
          <a:ln w="19050" cap="flat" cmpd="sng">
            <a:solidFill>
              <a:schemeClr val="lt1"/>
            </a:solidFill>
            <a:prstDash val="solid"/>
            <a:round/>
            <a:headEnd type="none" w="med" len="med"/>
            <a:tailEnd type="none" w="med" len="med"/>
          </a:ln>
        </p:spPr>
      </p:cxnSp>
      <p:sp>
        <p:nvSpPr>
          <p:cNvPr id="41" name="TextBox 40">
            <a:extLst>
              <a:ext uri="{FF2B5EF4-FFF2-40B4-BE49-F238E27FC236}">
                <a16:creationId xmlns:a16="http://schemas.microsoft.com/office/drawing/2014/main" id="{1CD6D1FC-D8BF-4C3F-EADB-335045361772}"/>
              </a:ext>
            </a:extLst>
          </p:cNvPr>
          <p:cNvSpPr txBox="1"/>
          <p:nvPr/>
        </p:nvSpPr>
        <p:spPr>
          <a:xfrm>
            <a:off x="5834581" y="658885"/>
            <a:ext cx="2592952" cy="307777"/>
          </a:xfrm>
          <a:prstGeom prst="rect">
            <a:avLst/>
          </a:prstGeom>
          <a:noFill/>
        </p:spPr>
        <p:txBody>
          <a:bodyPr wrap="square">
            <a:spAutoFit/>
          </a:bodyPr>
          <a:lstStyle/>
          <a:p>
            <a:r>
              <a:rPr lang="en" dirty="0">
                <a:latin typeface=""/>
              </a:rPr>
              <a:t>INTRODUCTION</a:t>
            </a:r>
          </a:p>
        </p:txBody>
      </p:sp>
      <p:sp>
        <p:nvSpPr>
          <p:cNvPr id="42" name="TextBox 41">
            <a:extLst>
              <a:ext uri="{FF2B5EF4-FFF2-40B4-BE49-F238E27FC236}">
                <a16:creationId xmlns:a16="http://schemas.microsoft.com/office/drawing/2014/main" id="{E8B351B4-7692-EF8D-C657-0F2DCDD1F38F}"/>
              </a:ext>
            </a:extLst>
          </p:cNvPr>
          <p:cNvSpPr txBox="1"/>
          <p:nvPr/>
        </p:nvSpPr>
        <p:spPr>
          <a:xfrm>
            <a:off x="5834581" y="1086078"/>
            <a:ext cx="2592952" cy="307777"/>
          </a:xfrm>
          <a:prstGeom prst="rect">
            <a:avLst/>
          </a:prstGeom>
          <a:noFill/>
        </p:spPr>
        <p:txBody>
          <a:bodyPr wrap="square">
            <a:spAutoFit/>
          </a:bodyPr>
          <a:lstStyle/>
          <a:p>
            <a:r>
              <a:rPr lang="en" dirty="0">
                <a:latin typeface=""/>
              </a:rPr>
              <a:t>OBJECTIVE</a:t>
            </a:r>
          </a:p>
        </p:txBody>
      </p:sp>
      <p:sp>
        <p:nvSpPr>
          <p:cNvPr id="43" name="TextBox 42">
            <a:extLst>
              <a:ext uri="{FF2B5EF4-FFF2-40B4-BE49-F238E27FC236}">
                <a16:creationId xmlns:a16="http://schemas.microsoft.com/office/drawing/2014/main" id="{A2B3D5BB-65B4-D182-9C3F-B8426CC13510}"/>
              </a:ext>
            </a:extLst>
          </p:cNvPr>
          <p:cNvSpPr txBox="1"/>
          <p:nvPr/>
        </p:nvSpPr>
        <p:spPr>
          <a:xfrm>
            <a:off x="5834581" y="1513271"/>
            <a:ext cx="2592952" cy="307777"/>
          </a:xfrm>
          <a:prstGeom prst="rect">
            <a:avLst/>
          </a:prstGeom>
          <a:noFill/>
        </p:spPr>
        <p:txBody>
          <a:bodyPr wrap="square">
            <a:spAutoFit/>
          </a:bodyPr>
          <a:lstStyle/>
          <a:p>
            <a:r>
              <a:rPr lang="en" dirty="0">
                <a:latin typeface=""/>
              </a:rPr>
              <a:t>DATASET</a:t>
            </a:r>
          </a:p>
        </p:txBody>
      </p:sp>
      <p:sp>
        <p:nvSpPr>
          <p:cNvPr id="44" name="TextBox 43">
            <a:extLst>
              <a:ext uri="{FF2B5EF4-FFF2-40B4-BE49-F238E27FC236}">
                <a16:creationId xmlns:a16="http://schemas.microsoft.com/office/drawing/2014/main" id="{CD05B70D-69AD-AB64-01C9-089931382DC9}"/>
              </a:ext>
            </a:extLst>
          </p:cNvPr>
          <p:cNvSpPr txBox="1"/>
          <p:nvPr/>
        </p:nvSpPr>
        <p:spPr>
          <a:xfrm>
            <a:off x="5834581" y="1940464"/>
            <a:ext cx="2592952" cy="307777"/>
          </a:xfrm>
          <a:prstGeom prst="rect">
            <a:avLst/>
          </a:prstGeom>
          <a:noFill/>
        </p:spPr>
        <p:txBody>
          <a:bodyPr wrap="square">
            <a:spAutoFit/>
          </a:bodyPr>
          <a:lstStyle/>
          <a:p>
            <a:r>
              <a:rPr lang="en" dirty="0">
                <a:latin typeface=""/>
              </a:rPr>
              <a:t>KEY DETAILS</a:t>
            </a:r>
          </a:p>
        </p:txBody>
      </p:sp>
      <p:sp>
        <p:nvSpPr>
          <p:cNvPr id="45" name="TextBox 44">
            <a:extLst>
              <a:ext uri="{FF2B5EF4-FFF2-40B4-BE49-F238E27FC236}">
                <a16:creationId xmlns:a16="http://schemas.microsoft.com/office/drawing/2014/main" id="{0C3DA793-97EF-10F4-023D-B8903D14D067}"/>
              </a:ext>
            </a:extLst>
          </p:cNvPr>
          <p:cNvSpPr txBox="1"/>
          <p:nvPr/>
        </p:nvSpPr>
        <p:spPr>
          <a:xfrm>
            <a:off x="5834581" y="2362550"/>
            <a:ext cx="2592952" cy="307777"/>
          </a:xfrm>
          <a:prstGeom prst="rect">
            <a:avLst/>
          </a:prstGeom>
          <a:noFill/>
        </p:spPr>
        <p:txBody>
          <a:bodyPr wrap="square">
            <a:spAutoFit/>
          </a:bodyPr>
          <a:lstStyle/>
          <a:p>
            <a:r>
              <a:rPr lang="en" dirty="0">
                <a:latin typeface=""/>
              </a:rPr>
              <a:t>CRITERIAS USED</a:t>
            </a:r>
          </a:p>
        </p:txBody>
      </p:sp>
      <p:sp>
        <p:nvSpPr>
          <p:cNvPr id="46" name="TextBox 45">
            <a:extLst>
              <a:ext uri="{FF2B5EF4-FFF2-40B4-BE49-F238E27FC236}">
                <a16:creationId xmlns:a16="http://schemas.microsoft.com/office/drawing/2014/main" id="{2144D1AF-7C25-7D99-8718-16AA619B5A6E}"/>
              </a:ext>
            </a:extLst>
          </p:cNvPr>
          <p:cNvSpPr txBox="1"/>
          <p:nvPr/>
        </p:nvSpPr>
        <p:spPr>
          <a:xfrm>
            <a:off x="5834581" y="2792719"/>
            <a:ext cx="2592952" cy="307777"/>
          </a:xfrm>
          <a:prstGeom prst="rect">
            <a:avLst/>
          </a:prstGeom>
          <a:noFill/>
        </p:spPr>
        <p:txBody>
          <a:bodyPr wrap="square">
            <a:spAutoFit/>
          </a:bodyPr>
          <a:lstStyle/>
          <a:p>
            <a:r>
              <a:rPr lang="en" dirty="0">
                <a:latin typeface=""/>
              </a:rPr>
              <a:t>DASHBOARD</a:t>
            </a:r>
          </a:p>
        </p:txBody>
      </p:sp>
      <p:sp>
        <p:nvSpPr>
          <p:cNvPr id="47" name="TextBox 46">
            <a:extLst>
              <a:ext uri="{FF2B5EF4-FFF2-40B4-BE49-F238E27FC236}">
                <a16:creationId xmlns:a16="http://schemas.microsoft.com/office/drawing/2014/main" id="{2EE34E2E-4DD5-714C-0003-ED962B008461}"/>
              </a:ext>
            </a:extLst>
          </p:cNvPr>
          <p:cNvSpPr txBox="1"/>
          <p:nvPr/>
        </p:nvSpPr>
        <p:spPr>
          <a:xfrm>
            <a:off x="5834581" y="3222889"/>
            <a:ext cx="2592952" cy="307777"/>
          </a:xfrm>
          <a:prstGeom prst="rect">
            <a:avLst/>
          </a:prstGeom>
          <a:noFill/>
        </p:spPr>
        <p:txBody>
          <a:bodyPr wrap="square">
            <a:spAutoFit/>
          </a:bodyPr>
          <a:lstStyle/>
          <a:p>
            <a:r>
              <a:rPr lang="en" dirty="0">
                <a:latin typeface=""/>
              </a:rPr>
              <a:t>CONCLUSION</a:t>
            </a:r>
          </a:p>
        </p:txBody>
      </p:sp>
      <p:sp>
        <p:nvSpPr>
          <p:cNvPr id="48" name="TextBox 47">
            <a:extLst>
              <a:ext uri="{FF2B5EF4-FFF2-40B4-BE49-F238E27FC236}">
                <a16:creationId xmlns:a16="http://schemas.microsoft.com/office/drawing/2014/main" id="{3BA23D90-ACEB-ECD0-CD04-342BED89996F}"/>
              </a:ext>
            </a:extLst>
          </p:cNvPr>
          <p:cNvSpPr txBox="1"/>
          <p:nvPr/>
        </p:nvSpPr>
        <p:spPr>
          <a:xfrm>
            <a:off x="5834581" y="3644975"/>
            <a:ext cx="2592952" cy="307777"/>
          </a:xfrm>
          <a:prstGeom prst="rect">
            <a:avLst/>
          </a:prstGeom>
          <a:noFill/>
        </p:spPr>
        <p:txBody>
          <a:bodyPr wrap="square">
            <a:spAutoFit/>
          </a:bodyPr>
          <a:lstStyle/>
          <a:p>
            <a:r>
              <a:rPr lang="en" dirty="0">
                <a:latin typeface=""/>
              </a:rPr>
              <a:t>REFERNCES</a:t>
            </a:r>
          </a:p>
        </p:txBody>
      </p:sp>
      <p:sp>
        <p:nvSpPr>
          <p:cNvPr id="50" name="TextBox 49">
            <a:extLst>
              <a:ext uri="{FF2B5EF4-FFF2-40B4-BE49-F238E27FC236}">
                <a16:creationId xmlns:a16="http://schemas.microsoft.com/office/drawing/2014/main" id="{A3D3A445-C744-9122-25CC-C225BCBBDF75}"/>
              </a:ext>
            </a:extLst>
          </p:cNvPr>
          <p:cNvSpPr txBox="1"/>
          <p:nvPr/>
        </p:nvSpPr>
        <p:spPr>
          <a:xfrm>
            <a:off x="5185373" y="658885"/>
            <a:ext cx="522460" cy="307777"/>
          </a:xfrm>
          <a:prstGeom prst="rect">
            <a:avLst/>
          </a:prstGeom>
          <a:noFill/>
        </p:spPr>
        <p:txBody>
          <a:bodyPr wrap="square">
            <a:spAutoFit/>
          </a:bodyPr>
          <a:lstStyle/>
          <a:p>
            <a:r>
              <a:rPr lang="en" dirty="0">
                <a:latin typeface=""/>
              </a:rPr>
              <a:t>1.</a:t>
            </a:r>
          </a:p>
        </p:txBody>
      </p:sp>
      <p:sp>
        <p:nvSpPr>
          <p:cNvPr id="51" name="TextBox 50">
            <a:extLst>
              <a:ext uri="{FF2B5EF4-FFF2-40B4-BE49-F238E27FC236}">
                <a16:creationId xmlns:a16="http://schemas.microsoft.com/office/drawing/2014/main" id="{2D867823-7704-62C8-6746-3D4EE86C3864}"/>
              </a:ext>
            </a:extLst>
          </p:cNvPr>
          <p:cNvSpPr txBox="1"/>
          <p:nvPr/>
        </p:nvSpPr>
        <p:spPr>
          <a:xfrm>
            <a:off x="5185373" y="1086078"/>
            <a:ext cx="522460" cy="307777"/>
          </a:xfrm>
          <a:prstGeom prst="rect">
            <a:avLst/>
          </a:prstGeom>
          <a:noFill/>
        </p:spPr>
        <p:txBody>
          <a:bodyPr wrap="square">
            <a:spAutoFit/>
          </a:bodyPr>
          <a:lstStyle/>
          <a:p>
            <a:r>
              <a:rPr lang="en" dirty="0">
                <a:latin typeface=""/>
              </a:rPr>
              <a:t>2.</a:t>
            </a:r>
          </a:p>
        </p:txBody>
      </p:sp>
      <p:sp>
        <p:nvSpPr>
          <p:cNvPr id="52" name="TextBox 51">
            <a:extLst>
              <a:ext uri="{FF2B5EF4-FFF2-40B4-BE49-F238E27FC236}">
                <a16:creationId xmlns:a16="http://schemas.microsoft.com/office/drawing/2014/main" id="{2BB68871-BDE5-CB8F-FCB6-E6C1E1CC3E21}"/>
              </a:ext>
            </a:extLst>
          </p:cNvPr>
          <p:cNvSpPr txBox="1"/>
          <p:nvPr/>
        </p:nvSpPr>
        <p:spPr>
          <a:xfrm>
            <a:off x="5185373" y="1513271"/>
            <a:ext cx="522460" cy="307777"/>
          </a:xfrm>
          <a:prstGeom prst="rect">
            <a:avLst/>
          </a:prstGeom>
          <a:noFill/>
        </p:spPr>
        <p:txBody>
          <a:bodyPr wrap="square">
            <a:spAutoFit/>
          </a:bodyPr>
          <a:lstStyle/>
          <a:p>
            <a:r>
              <a:rPr lang="en" dirty="0">
                <a:latin typeface=""/>
              </a:rPr>
              <a:t>3.</a:t>
            </a:r>
          </a:p>
        </p:txBody>
      </p:sp>
      <p:sp>
        <p:nvSpPr>
          <p:cNvPr id="53" name="TextBox 52">
            <a:extLst>
              <a:ext uri="{FF2B5EF4-FFF2-40B4-BE49-F238E27FC236}">
                <a16:creationId xmlns:a16="http://schemas.microsoft.com/office/drawing/2014/main" id="{ABFEA2B2-834C-ECA5-C9E8-3FA26C05F3D8}"/>
              </a:ext>
            </a:extLst>
          </p:cNvPr>
          <p:cNvSpPr txBox="1"/>
          <p:nvPr/>
        </p:nvSpPr>
        <p:spPr>
          <a:xfrm>
            <a:off x="5185373" y="1940464"/>
            <a:ext cx="522460" cy="307777"/>
          </a:xfrm>
          <a:prstGeom prst="rect">
            <a:avLst/>
          </a:prstGeom>
          <a:noFill/>
        </p:spPr>
        <p:txBody>
          <a:bodyPr wrap="square">
            <a:spAutoFit/>
          </a:bodyPr>
          <a:lstStyle/>
          <a:p>
            <a:r>
              <a:rPr lang="en" dirty="0">
                <a:latin typeface=""/>
              </a:rPr>
              <a:t>4.</a:t>
            </a:r>
          </a:p>
        </p:txBody>
      </p:sp>
      <p:sp>
        <p:nvSpPr>
          <p:cNvPr id="54" name="TextBox 53">
            <a:extLst>
              <a:ext uri="{FF2B5EF4-FFF2-40B4-BE49-F238E27FC236}">
                <a16:creationId xmlns:a16="http://schemas.microsoft.com/office/drawing/2014/main" id="{DBF3DF14-3172-128E-96D1-CCD644507C8F}"/>
              </a:ext>
            </a:extLst>
          </p:cNvPr>
          <p:cNvSpPr txBox="1"/>
          <p:nvPr/>
        </p:nvSpPr>
        <p:spPr>
          <a:xfrm>
            <a:off x="5185373" y="2362549"/>
            <a:ext cx="522460" cy="307777"/>
          </a:xfrm>
          <a:prstGeom prst="rect">
            <a:avLst/>
          </a:prstGeom>
          <a:noFill/>
        </p:spPr>
        <p:txBody>
          <a:bodyPr wrap="square">
            <a:spAutoFit/>
          </a:bodyPr>
          <a:lstStyle/>
          <a:p>
            <a:r>
              <a:rPr lang="en" dirty="0">
                <a:latin typeface=""/>
              </a:rPr>
              <a:t>5.</a:t>
            </a:r>
          </a:p>
        </p:txBody>
      </p:sp>
      <p:sp>
        <p:nvSpPr>
          <p:cNvPr id="55" name="TextBox 54">
            <a:extLst>
              <a:ext uri="{FF2B5EF4-FFF2-40B4-BE49-F238E27FC236}">
                <a16:creationId xmlns:a16="http://schemas.microsoft.com/office/drawing/2014/main" id="{7D083AA0-81C4-CAAE-5E90-63C3FA13416A}"/>
              </a:ext>
            </a:extLst>
          </p:cNvPr>
          <p:cNvSpPr txBox="1"/>
          <p:nvPr/>
        </p:nvSpPr>
        <p:spPr>
          <a:xfrm>
            <a:off x="5185373" y="2792719"/>
            <a:ext cx="522460" cy="307777"/>
          </a:xfrm>
          <a:prstGeom prst="rect">
            <a:avLst/>
          </a:prstGeom>
          <a:noFill/>
        </p:spPr>
        <p:txBody>
          <a:bodyPr wrap="square">
            <a:spAutoFit/>
          </a:bodyPr>
          <a:lstStyle/>
          <a:p>
            <a:r>
              <a:rPr lang="en" dirty="0">
                <a:latin typeface=""/>
              </a:rPr>
              <a:t>6.</a:t>
            </a:r>
          </a:p>
        </p:txBody>
      </p:sp>
      <p:sp>
        <p:nvSpPr>
          <p:cNvPr id="56" name="TextBox 55">
            <a:extLst>
              <a:ext uri="{FF2B5EF4-FFF2-40B4-BE49-F238E27FC236}">
                <a16:creationId xmlns:a16="http://schemas.microsoft.com/office/drawing/2014/main" id="{E624ACB6-1527-C689-6A76-04995776EC15}"/>
              </a:ext>
            </a:extLst>
          </p:cNvPr>
          <p:cNvSpPr txBox="1"/>
          <p:nvPr/>
        </p:nvSpPr>
        <p:spPr>
          <a:xfrm>
            <a:off x="5185373" y="3226907"/>
            <a:ext cx="522460" cy="307777"/>
          </a:xfrm>
          <a:prstGeom prst="rect">
            <a:avLst/>
          </a:prstGeom>
          <a:noFill/>
        </p:spPr>
        <p:txBody>
          <a:bodyPr wrap="square">
            <a:spAutoFit/>
          </a:bodyPr>
          <a:lstStyle/>
          <a:p>
            <a:r>
              <a:rPr lang="en" dirty="0">
                <a:latin typeface=""/>
              </a:rPr>
              <a:t>7.</a:t>
            </a:r>
          </a:p>
        </p:txBody>
      </p:sp>
      <p:sp>
        <p:nvSpPr>
          <p:cNvPr id="57" name="TextBox 56">
            <a:extLst>
              <a:ext uri="{FF2B5EF4-FFF2-40B4-BE49-F238E27FC236}">
                <a16:creationId xmlns:a16="http://schemas.microsoft.com/office/drawing/2014/main" id="{6E33F229-E904-83AD-19EB-8CB20319D6AC}"/>
              </a:ext>
            </a:extLst>
          </p:cNvPr>
          <p:cNvSpPr txBox="1"/>
          <p:nvPr/>
        </p:nvSpPr>
        <p:spPr>
          <a:xfrm>
            <a:off x="5185373" y="3644975"/>
            <a:ext cx="522460" cy="307777"/>
          </a:xfrm>
          <a:prstGeom prst="rect">
            <a:avLst/>
          </a:prstGeom>
          <a:noFill/>
        </p:spPr>
        <p:txBody>
          <a:bodyPr wrap="square">
            <a:spAutoFit/>
          </a:bodyPr>
          <a:lstStyle/>
          <a:p>
            <a:r>
              <a:rPr lang="en" dirty="0">
                <a:latin typeface=""/>
              </a:rPr>
              <a:t>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866"/>
        <p:cNvGrpSpPr/>
        <p:nvPr/>
      </p:nvGrpSpPr>
      <p:grpSpPr>
        <a:xfrm>
          <a:off x="0" y="0"/>
          <a:ext cx="0" cy="0"/>
          <a:chOff x="0" y="0"/>
          <a:chExt cx="0" cy="0"/>
        </a:xfrm>
      </p:grpSpPr>
      <p:cxnSp>
        <p:nvCxnSpPr>
          <p:cNvPr id="875" name="Google Shape;875;p98"/>
          <p:cNvCxnSpPr/>
          <p:nvPr/>
        </p:nvCxnSpPr>
        <p:spPr>
          <a:xfrm>
            <a:off x="853265" y="1069537"/>
            <a:ext cx="647100" cy="0"/>
          </a:xfrm>
          <a:prstGeom prst="straightConnector1">
            <a:avLst/>
          </a:prstGeom>
          <a:noFill/>
          <a:ln w="19050" cap="flat" cmpd="sng">
            <a:solidFill>
              <a:schemeClr val="dk1"/>
            </a:solidFill>
            <a:prstDash val="solid"/>
            <a:round/>
            <a:headEnd type="none" w="med" len="med"/>
            <a:tailEnd type="none" w="med" len="med"/>
          </a:ln>
        </p:spPr>
      </p:cxnSp>
      <p:sp>
        <p:nvSpPr>
          <p:cNvPr id="21" name="Title 20">
            <a:extLst>
              <a:ext uri="{FF2B5EF4-FFF2-40B4-BE49-F238E27FC236}">
                <a16:creationId xmlns:a16="http://schemas.microsoft.com/office/drawing/2014/main" id="{6F6284F7-9D89-36F7-0C25-7B31A2E75A96}"/>
              </a:ext>
            </a:extLst>
          </p:cNvPr>
          <p:cNvSpPr>
            <a:spLocks noGrp="1"/>
          </p:cNvSpPr>
          <p:nvPr>
            <p:ph type="title" idx="8"/>
          </p:nvPr>
        </p:nvSpPr>
        <p:spPr>
          <a:xfrm>
            <a:off x="716550" y="540937"/>
            <a:ext cx="7710900" cy="528600"/>
          </a:xfrm>
        </p:spPr>
        <p:txBody>
          <a:bodyPr/>
          <a:lstStyle/>
          <a:p>
            <a:pPr algn="l"/>
            <a:r>
              <a:rPr lang="en-US" sz="2500" dirty="0"/>
              <a:t>OBJECTIVE</a:t>
            </a:r>
          </a:p>
        </p:txBody>
      </p:sp>
      <p:sp>
        <p:nvSpPr>
          <p:cNvPr id="24" name="Google Shape;507;p69">
            <a:extLst>
              <a:ext uri="{FF2B5EF4-FFF2-40B4-BE49-F238E27FC236}">
                <a16:creationId xmlns:a16="http://schemas.microsoft.com/office/drawing/2014/main" id="{4A0AED16-A0FC-1869-0900-74D47BB7191E}"/>
              </a:ext>
            </a:extLst>
          </p:cNvPr>
          <p:cNvSpPr txBox="1">
            <a:spLocks noGrp="1"/>
          </p:cNvSpPr>
          <p:nvPr>
            <p:ph type="subTitle" idx="1"/>
          </p:nvPr>
        </p:nvSpPr>
        <p:spPr>
          <a:xfrm>
            <a:off x="716550" y="1315194"/>
            <a:ext cx="7168032" cy="3241006"/>
          </a:xfrm>
          <a:prstGeom prst="rect">
            <a:avLst/>
          </a:prstGeom>
        </p:spPr>
        <p:txBody>
          <a:bodyPr spcFirstLastPara="1" wrap="square" lIns="91425" tIns="91425" rIns="91425" bIns="91425" anchor="t" anchorCtr="0">
            <a:noAutofit/>
          </a:bodyPr>
          <a:lstStyle/>
          <a:p>
            <a:pPr marL="425450" indent="-285750" algn="just">
              <a:lnSpc>
                <a:spcPct val="150000"/>
              </a:lnSpc>
              <a:buFont typeface="Wingdings" pitchFamily="2" charset="2"/>
              <a:buChar char="Ø"/>
            </a:pPr>
            <a:r>
              <a:rPr lang="en-IN" sz="1600" dirty="0">
                <a:latin typeface="Times New Roman" panose="02020603050405020304" pitchFamily="18" charset="0"/>
                <a:cs typeface="Times New Roman" panose="02020603050405020304" pitchFamily="18" charset="0"/>
              </a:rPr>
              <a:t>To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customer shopping behaviour using Power BI.</a:t>
            </a:r>
          </a:p>
          <a:p>
            <a:pPr marL="425450" indent="-285750" algn="just">
              <a:lnSpc>
                <a:spcPct val="150000"/>
              </a:lnSpc>
              <a:buFont typeface="Wingdings" pitchFamily="2" charset="2"/>
              <a:buChar char="Ø"/>
            </a:pPr>
            <a:r>
              <a:rPr lang="en-IN" sz="1600" dirty="0">
                <a:latin typeface="Times New Roman" panose="02020603050405020304" pitchFamily="18" charset="0"/>
                <a:cs typeface="Times New Roman" panose="02020603050405020304" pitchFamily="18" charset="0"/>
              </a:rPr>
              <a:t>To study the impact of product categories, and payment methods on purchase patterns.</a:t>
            </a:r>
          </a:p>
          <a:p>
            <a:pPr marL="425450" indent="-285750" algn="just">
              <a:lnSpc>
                <a:spcPct val="150000"/>
              </a:lnSpc>
              <a:buFont typeface="Wingdings" pitchFamily="2" charset="2"/>
              <a:buChar char="Ø"/>
            </a:pPr>
            <a:r>
              <a:rPr lang="en-IN" sz="1600" dirty="0">
                <a:latin typeface="Times New Roman" panose="02020603050405020304" pitchFamily="18" charset="0"/>
                <a:cs typeface="Times New Roman" panose="02020603050405020304" pitchFamily="18" charset="0"/>
              </a:rPr>
              <a:t>To identify key factors influencing sales and overall customer spending trends.</a:t>
            </a:r>
          </a:p>
          <a:p>
            <a:pPr marL="425450" indent="-285750" algn="just">
              <a:lnSpc>
                <a:spcPct val="150000"/>
              </a:lnSpc>
              <a:buFont typeface="Wingdings" pitchFamily="2" charset="2"/>
              <a:buChar char="Ø"/>
            </a:pPr>
            <a:r>
              <a:rPr lang="en-IN" sz="1600" dirty="0">
                <a:latin typeface="Times New Roman" panose="02020603050405020304" pitchFamily="18" charset="0"/>
                <a:cs typeface="Times New Roman" panose="02020603050405020304" pitchFamily="18" charset="0"/>
              </a:rPr>
              <a:t>To transform raw data into interactive dashboards and actionable insights.</a:t>
            </a:r>
          </a:p>
          <a:p>
            <a:pPr marL="425450" indent="-285750" algn="just">
              <a:lnSpc>
                <a:spcPct val="150000"/>
              </a:lnSpc>
              <a:buFont typeface="Wingdings" pitchFamily="2" charset="2"/>
              <a:buChar char="Ø"/>
            </a:pPr>
            <a:r>
              <a:rPr lang="en-IN" sz="1600" dirty="0">
                <a:latin typeface="Times New Roman" panose="02020603050405020304" pitchFamily="18" charset="0"/>
                <a:cs typeface="Times New Roman" panose="02020603050405020304" pitchFamily="18" charset="0"/>
              </a:rPr>
              <a:t>To support data-driven decision-making in marketing, sales, and customer engagement.</a:t>
            </a:r>
          </a:p>
        </p:txBody>
      </p:sp>
    </p:spTree>
    <p:extLst>
      <p:ext uri="{BB962C8B-B14F-4D97-AF65-F5344CB8AC3E}">
        <p14:creationId xmlns:p14="http://schemas.microsoft.com/office/powerpoint/2010/main" val="275543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DA7E503-DDAF-0356-C532-B201A31E18B5}"/>
              </a:ext>
            </a:extLst>
          </p:cNvPr>
          <p:cNvSpPr>
            <a:spLocks noGrp="1"/>
          </p:cNvSpPr>
          <p:nvPr>
            <p:ph type="title" idx="6"/>
          </p:nvPr>
        </p:nvSpPr>
        <p:spPr>
          <a:xfrm>
            <a:off x="424450" y="530725"/>
            <a:ext cx="5134378" cy="528600"/>
          </a:xfrm>
        </p:spPr>
        <p:txBody>
          <a:bodyPr/>
          <a:lstStyle/>
          <a:p>
            <a:pPr algn="l"/>
            <a:r>
              <a:rPr lang="en-US" sz="2500" dirty="0"/>
              <a:t>dataset</a:t>
            </a:r>
          </a:p>
        </p:txBody>
      </p:sp>
      <p:pic>
        <p:nvPicPr>
          <p:cNvPr id="3" name="Picture 2">
            <a:extLst>
              <a:ext uri="{FF2B5EF4-FFF2-40B4-BE49-F238E27FC236}">
                <a16:creationId xmlns:a16="http://schemas.microsoft.com/office/drawing/2014/main" id="{BBF6DDC9-ECBA-5DE9-8D2B-C0E0E1DCCBDE}"/>
              </a:ext>
            </a:extLst>
          </p:cNvPr>
          <p:cNvPicPr>
            <a:picLocks noChangeAspect="1"/>
          </p:cNvPicPr>
          <p:nvPr/>
        </p:nvPicPr>
        <p:blipFill>
          <a:blip r:embed="rId2"/>
          <a:stretch>
            <a:fillRect/>
          </a:stretch>
        </p:blipFill>
        <p:spPr>
          <a:xfrm>
            <a:off x="1877437" y="1113114"/>
            <a:ext cx="5583677" cy="3576502"/>
          </a:xfrm>
          <a:prstGeom prst="rect">
            <a:avLst/>
          </a:prstGeom>
        </p:spPr>
      </p:pic>
      <p:cxnSp>
        <p:nvCxnSpPr>
          <p:cNvPr id="4" name="Google Shape;448;p64">
            <a:extLst>
              <a:ext uri="{FF2B5EF4-FFF2-40B4-BE49-F238E27FC236}">
                <a16:creationId xmlns:a16="http://schemas.microsoft.com/office/drawing/2014/main" id="{C0A1F668-07AB-5B64-9734-971AAA5B2831}"/>
              </a:ext>
            </a:extLst>
          </p:cNvPr>
          <p:cNvCxnSpPr/>
          <p:nvPr/>
        </p:nvCxnSpPr>
        <p:spPr>
          <a:xfrm>
            <a:off x="602328" y="1059325"/>
            <a:ext cx="6471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792593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DA7E503-DDAF-0356-C532-B201A31E18B5}"/>
              </a:ext>
            </a:extLst>
          </p:cNvPr>
          <p:cNvSpPr>
            <a:spLocks noGrp="1"/>
          </p:cNvSpPr>
          <p:nvPr>
            <p:ph type="title" idx="6"/>
          </p:nvPr>
        </p:nvSpPr>
        <p:spPr>
          <a:xfrm>
            <a:off x="415397" y="530725"/>
            <a:ext cx="5134378" cy="528600"/>
          </a:xfrm>
        </p:spPr>
        <p:txBody>
          <a:bodyPr/>
          <a:lstStyle/>
          <a:p>
            <a:pPr algn="l"/>
            <a:r>
              <a:rPr lang="en-US" sz="2500" dirty="0"/>
              <a:t>dataset</a:t>
            </a:r>
          </a:p>
        </p:txBody>
      </p:sp>
      <p:cxnSp>
        <p:nvCxnSpPr>
          <p:cNvPr id="4" name="Google Shape;448;p64">
            <a:extLst>
              <a:ext uri="{FF2B5EF4-FFF2-40B4-BE49-F238E27FC236}">
                <a16:creationId xmlns:a16="http://schemas.microsoft.com/office/drawing/2014/main" id="{C0A1F668-07AB-5B64-9734-971AAA5B2831}"/>
              </a:ext>
            </a:extLst>
          </p:cNvPr>
          <p:cNvCxnSpPr/>
          <p:nvPr/>
        </p:nvCxnSpPr>
        <p:spPr>
          <a:xfrm>
            <a:off x="602328" y="1059325"/>
            <a:ext cx="647100" cy="0"/>
          </a:xfrm>
          <a:prstGeom prst="straightConnector1">
            <a:avLst/>
          </a:prstGeom>
          <a:noFill/>
          <a:ln w="19050" cap="flat" cmpd="sng">
            <a:solidFill>
              <a:schemeClr val="dk1"/>
            </a:solidFill>
            <a:prstDash val="solid"/>
            <a:round/>
            <a:headEnd type="none" w="med" len="med"/>
            <a:tailEnd type="none" w="med" len="med"/>
          </a:ln>
        </p:spPr>
      </p:cxnSp>
      <p:pic>
        <p:nvPicPr>
          <p:cNvPr id="7" name="Picture 6">
            <a:extLst>
              <a:ext uri="{FF2B5EF4-FFF2-40B4-BE49-F238E27FC236}">
                <a16:creationId xmlns:a16="http://schemas.microsoft.com/office/drawing/2014/main" id="{A28348F2-EF36-C615-7D3C-7014C92C378D}"/>
              </a:ext>
            </a:extLst>
          </p:cNvPr>
          <p:cNvPicPr>
            <a:picLocks noChangeAspect="1"/>
          </p:cNvPicPr>
          <p:nvPr/>
        </p:nvPicPr>
        <p:blipFill>
          <a:blip r:embed="rId2"/>
          <a:stretch>
            <a:fillRect/>
          </a:stretch>
        </p:blipFill>
        <p:spPr>
          <a:xfrm>
            <a:off x="1828799" y="1059325"/>
            <a:ext cx="5603133" cy="3553450"/>
          </a:xfrm>
          <a:prstGeom prst="rect">
            <a:avLst/>
          </a:prstGeom>
        </p:spPr>
      </p:pic>
    </p:spTree>
    <p:extLst>
      <p:ext uri="{BB962C8B-B14F-4D97-AF65-F5344CB8AC3E}">
        <p14:creationId xmlns:p14="http://schemas.microsoft.com/office/powerpoint/2010/main" val="2682574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41000">
              <a:schemeClr val="accent3">
                <a:lumMod val="5000"/>
                <a:lumOff val="95000"/>
                <a:alpha val="85591"/>
              </a:schemeClr>
            </a:gs>
            <a:gs pos="100000">
              <a:schemeClr val="accent3">
                <a:lumMod val="45000"/>
                <a:lumOff val="55000"/>
              </a:schemeClr>
            </a:gs>
            <a:gs pos="88000">
              <a:schemeClr val="accent3">
                <a:alpha val="40533"/>
                <a:lumMod val="68000"/>
                <a:lumOff val="32000"/>
              </a:schemeClr>
            </a:gs>
            <a:gs pos="100000">
              <a:schemeClr val="accent3">
                <a:lumMod val="30000"/>
                <a:lumOff val="70000"/>
              </a:schemeClr>
            </a:gs>
          </a:gsLst>
          <a:lin ang="0" scaled="1"/>
          <a:tileRect/>
        </a:gradFill>
        <a:effectLst/>
      </p:bgPr>
    </p:bg>
    <p:spTree>
      <p:nvGrpSpPr>
        <p:cNvPr id="1" name="Shape 582"/>
        <p:cNvGrpSpPr/>
        <p:nvPr/>
      </p:nvGrpSpPr>
      <p:grpSpPr>
        <a:xfrm>
          <a:off x="0" y="0"/>
          <a:ext cx="0" cy="0"/>
          <a:chOff x="0" y="0"/>
          <a:chExt cx="0" cy="0"/>
        </a:xfrm>
      </p:grpSpPr>
      <p:sp>
        <p:nvSpPr>
          <p:cNvPr id="584" name="Google Shape;584;p76"/>
          <p:cNvSpPr txBox="1">
            <a:spLocks noGrp="1"/>
          </p:cNvSpPr>
          <p:nvPr>
            <p:ph type="subTitle" idx="1"/>
          </p:nvPr>
        </p:nvSpPr>
        <p:spPr>
          <a:xfrm>
            <a:off x="713027" y="1340991"/>
            <a:ext cx="7317397" cy="3442882"/>
          </a:xfrm>
          <a:prstGeom prst="rect">
            <a:avLst/>
          </a:prstGeom>
        </p:spPr>
        <p:txBody>
          <a:bodyPr spcFirstLastPara="1" wrap="square" lIns="91425" tIns="91425" rIns="91425" bIns="91425" anchor="t" anchorCtr="0">
            <a:noAutofit/>
          </a:bodyPr>
          <a:lstStyle/>
          <a:p>
            <a:pPr marL="139700" indent="0" algn="just">
              <a:lnSpc>
                <a:spcPct val="150000"/>
              </a:lnSpc>
            </a:pPr>
            <a:r>
              <a:rPr lang="en-IN" sz="1600" dirty="0">
                <a:latin typeface="Times New Roman" panose="02020603050405020304" pitchFamily="18" charset="0"/>
                <a:cs typeface="Times New Roman" panose="02020603050405020304" pitchFamily="18" charset="0"/>
              </a:rPr>
              <a:t>The dataset used here is </a:t>
            </a:r>
            <a:r>
              <a:rPr lang="en-IN" sz="1600" b="1" dirty="0">
                <a:latin typeface="Times New Roman" panose="02020603050405020304" pitchFamily="18" charset="0"/>
                <a:cs typeface="Times New Roman" panose="02020603050405020304" pitchFamily="18" charset="0"/>
              </a:rPr>
              <a:t>Customer Shopping Data</a:t>
            </a:r>
            <a:r>
              <a:rPr lang="en-IN" sz="1600" dirty="0">
                <a:latin typeface="Times New Roman" panose="02020603050405020304" pitchFamily="18" charset="0"/>
                <a:cs typeface="Times New Roman" panose="02020603050405020304" pitchFamily="18" charset="0"/>
              </a:rPr>
              <a:t>.</a:t>
            </a:r>
          </a:p>
          <a:p>
            <a:pPr marL="425450" indent="-285750" algn="just">
              <a:lnSpc>
                <a:spcPct val="150000"/>
              </a:lnSpc>
              <a:buFont typeface="Wingdings" pitchFamily="2" charset="2"/>
              <a:buChar char="Ø"/>
            </a:pPr>
            <a:r>
              <a:rPr lang="en-IN" sz="1600" dirty="0">
                <a:latin typeface="Times New Roman" panose="02020603050405020304" pitchFamily="18" charset="0"/>
                <a:cs typeface="Times New Roman" panose="02020603050405020304" pitchFamily="18" charset="0"/>
              </a:rPr>
              <a:t>It contains </a:t>
            </a:r>
            <a:r>
              <a:rPr lang="en-IN" sz="1600" b="1" dirty="0">
                <a:latin typeface="Times New Roman" panose="02020603050405020304" pitchFamily="18" charset="0"/>
                <a:cs typeface="Times New Roman" panose="02020603050405020304" pitchFamily="18" charset="0"/>
              </a:rPr>
              <a:t>3,900+ transaction records</a:t>
            </a:r>
            <a:r>
              <a:rPr lang="en-IN" sz="1600" dirty="0">
                <a:latin typeface="Times New Roman" panose="02020603050405020304" pitchFamily="18" charset="0"/>
                <a:cs typeface="Times New Roman" panose="02020603050405020304" pitchFamily="18" charset="0"/>
              </a:rPr>
              <a:t> collected from </a:t>
            </a:r>
            <a:r>
              <a:rPr lang="en-IN" sz="1600" b="1" dirty="0">
                <a:latin typeface="Times New Roman" panose="02020603050405020304" pitchFamily="18" charset="0"/>
                <a:cs typeface="Times New Roman" panose="02020603050405020304" pitchFamily="18" charset="0"/>
              </a:rPr>
              <a:t>multiple shopping malls</a:t>
            </a:r>
            <a:r>
              <a:rPr lang="en-IN" sz="1600" dirty="0">
                <a:latin typeface="Times New Roman" panose="02020603050405020304" pitchFamily="18" charset="0"/>
                <a:cs typeface="Times New Roman" panose="02020603050405020304" pitchFamily="18" charset="0"/>
              </a:rPr>
              <a:t>, covering a variety of shopping activities.</a:t>
            </a:r>
          </a:p>
          <a:p>
            <a:pPr marL="425450" indent="-285750" algn="just">
              <a:lnSpc>
                <a:spcPct val="150000"/>
              </a:lnSpc>
              <a:buFont typeface="Wingdings" pitchFamily="2" charset="2"/>
              <a:buChar char="Ø"/>
            </a:pPr>
            <a:r>
              <a:rPr lang="en-IN" sz="1600" dirty="0">
                <a:latin typeface="Times New Roman" panose="02020603050405020304" pitchFamily="18" charset="0"/>
                <a:cs typeface="Times New Roman" panose="02020603050405020304" pitchFamily="18" charset="0"/>
              </a:rPr>
              <a:t>It include details about the items bought, payment mode, and demographic information.</a:t>
            </a:r>
          </a:p>
          <a:p>
            <a:pPr marL="425450" indent="-285750" algn="just">
              <a:lnSpc>
                <a:spcPct val="150000"/>
              </a:lnSpc>
              <a:buFont typeface="Wingdings" pitchFamily="2" charset="2"/>
              <a:buChar char="Ø"/>
            </a:pPr>
            <a:r>
              <a:rPr lang="en-IN" sz="1600" dirty="0">
                <a:latin typeface="Times New Roman" panose="02020603050405020304" pitchFamily="18" charset="0"/>
                <a:cs typeface="Times New Roman" panose="02020603050405020304" pitchFamily="18" charset="0"/>
              </a:rPr>
              <a:t>This data includes customers of all ages and genders, across various product categories. This dataset helps in exploring how customers from different backgrounds interact with products and payment systems in real-world retail settings.</a:t>
            </a:r>
          </a:p>
        </p:txBody>
      </p:sp>
      <p:cxnSp>
        <p:nvCxnSpPr>
          <p:cNvPr id="585" name="Google Shape;585;p76"/>
          <p:cNvCxnSpPr/>
          <p:nvPr/>
        </p:nvCxnSpPr>
        <p:spPr>
          <a:xfrm>
            <a:off x="898668" y="1156735"/>
            <a:ext cx="647100" cy="0"/>
          </a:xfrm>
          <a:prstGeom prst="straightConnector1">
            <a:avLst/>
          </a:prstGeom>
          <a:noFill/>
          <a:ln w="19050"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C22AF41E-6416-9908-3E86-0192D88EF5E7}"/>
              </a:ext>
            </a:extLst>
          </p:cNvPr>
          <p:cNvSpPr>
            <a:spLocks noGrp="1"/>
          </p:cNvSpPr>
          <p:nvPr>
            <p:ph type="ctrTitle"/>
          </p:nvPr>
        </p:nvSpPr>
        <p:spPr>
          <a:xfrm>
            <a:off x="713027" y="561426"/>
            <a:ext cx="5762400" cy="598575"/>
          </a:xfrm>
        </p:spPr>
        <p:txBody>
          <a:bodyPr/>
          <a:lstStyle/>
          <a:p>
            <a:pPr algn="l"/>
            <a:r>
              <a:rPr lang="en-US" sz="2500" dirty="0"/>
              <a:t>KEY DETAILS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41000">
              <a:schemeClr val="accent3">
                <a:lumMod val="5000"/>
                <a:lumOff val="95000"/>
                <a:alpha val="85591"/>
              </a:schemeClr>
            </a:gs>
            <a:gs pos="100000">
              <a:schemeClr val="accent3">
                <a:lumMod val="45000"/>
                <a:lumOff val="55000"/>
              </a:schemeClr>
            </a:gs>
            <a:gs pos="88000">
              <a:schemeClr val="accent3">
                <a:alpha val="40533"/>
                <a:lumMod val="68000"/>
                <a:lumOff val="32000"/>
              </a:schemeClr>
            </a:gs>
            <a:gs pos="100000">
              <a:schemeClr val="accent3">
                <a:lumMod val="30000"/>
                <a:lumOff val="70000"/>
              </a:schemeClr>
            </a:gs>
          </a:gsLst>
          <a:lin ang="0" scaled="1"/>
          <a:tileRect/>
        </a:gradFill>
        <a:effectLst/>
      </p:bgPr>
    </p:bg>
    <p:spTree>
      <p:nvGrpSpPr>
        <p:cNvPr id="1" name="Shape 582"/>
        <p:cNvGrpSpPr/>
        <p:nvPr/>
      </p:nvGrpSpPr>
      <p:grpSpPr>
        <a:xfrm>
          <a:off x="0" y="0"/>
          <a:ext cx="0" cy="0"/>
          <a:chOff x="0" y="0"/>
          <a:chExt cx="0" cy="0"/>
        </a:xfrm>
      </p:grpSpPr>
      <p:sp>
        <p:nvSpPr>
          <p:cNvPr id="584" name="Google Shape;584;p76"/>
          <p:cNvSpPr txBox="1">
            <a:spLocks noGrp="1"/>
          </p:cNvSpPr>
          <p:nvPr>
            <p:ph type="subTitle" idx="1"/>
          </p:nvPr>
        </p:nvSpPr>
        <p:spPr>
          <a:xfrm>
            <a:off x="713027" y="1321739"/>
            <a:ext cx="7317397" cy="2740819"/>
          </a:xfrm>
          <a:prstGeom prst="rect">
            <a:avLst/>
          </a:prstGeom>
        </p:spPr>
        <p:txBody>
          <a:bodyPr spcFirstLastPara="1" wrap="square" lIns="91425" tIns="91425" rIns="91425" bIns="91425" anchor="t" anchorCtr="0">
            <a:noAutofit/>
          </a:bodyPr>
          <a:lstStyle/>
          <a:p>
            <a:pPr marL="139700" indent="0" algn="just"/>
            <a:r>
              <a:rPr lang="en-IN" sz="1600" dirty="0">
                <a:latin typeface="Times New Roman" panose="02020603050405020304" pitchFamily="18" charset="0"/>
                <a:cs typeface="Times New Roman" panose="02020603050405020304" pitchFamily="18" charset="0"/>
              </a:rPr>
              <a:t>The dataset includes </a:t>
            </a:r>
            <a:r>
              <a:rPr lang="en-IN" sz="1600" b="1" dirty="0">
                <a:latin typeface="Times New Roman" panose="02020603050405020304" pitchFamily="18" charset="0"/>
                <a:cs typeface="Times New Roman" panose="02020603050405020304" pitchFamily="18" charset="0"/>
              </a:rPr>
              <a:t>ten major columns</a:t>
            </a:r>
            <a:r>
              <a:rPr lang="en-IN" sz="1600" dirty="0">
                <a:latin typeface="Times New Roman" panose="02020603050405020304" pitchFamily="18" charset="0"/>
                <a:cs typeface="Times New Roman" panose="02020603050405020304" pitchFamily="18" charset="0"/>
              </a:rPr>
              <a:t>, each contributing to a different aspect of the analysis:</a:t>
            </a:r>
          </a:p>
          <a:p>
            <a:pPr marL="139700" indent="0" algn="just"/>
            <a:endParaRPr lang="en-IN" sz="1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Invoice No</a:t>
            </a:r>
            <a:r>
              <a:rPr lang="en-IN" sz="1600" dirty="0">
                <a:latin typeface="Times New Roman" panose="02020603050405020304" pitchFamily="18" charset="0"/>
                <a:cs typeface="Times New Roman" panose="02020603050405020304" pitchFamily="18" charset="0"/>
              </a:rPr>
              <a:t> – Unique ID for every transaction.</a:t>
            </a: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Customer ID</a:t>
            </a:r>
            <a:r>
              <a:rPr lang="en-IN" sz="1600" dirty="0">
                <a:latin typeface="Times New Roman" panose="02020603050405020304" pitchFamily="18" charset="0"/>
                <a:cs typeface="Times New Roman" panose="02020603050405020304" pitchFamily="18" charset="0"/>
              </a:rPr>
              <a:t> – Identifier assigned to each customer.</a:t>
            </a: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Gender</a:t>
            </a:r>
            <a:r>
              <a:rPr lang="en-IN" sz="1600" dirty="0">
                <a:latin typeface="Times New Roman" panose="02020603050405020304" pitchFamily="18" charset="0"/>
                <a:cs typeface="Times New Roman" panose="02020603050405020304" pitchFamily="18" charset="0"/>
              </a:rPr>
              <a:t> – Indicates the gender of the customer.</a:t>
            </a: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Age</a:t>
            </a:r>
            <a:r>
              <a:rPr lang="en-IN" sz="1600" dirty="0">
                <a:latin typeface="Times New Roman" panose="02020603050405020304" pitchFamily="18" charset="0"/>
                <a:cs typeface="Times New Roman" panose="02020603050405020304" pitchFamily="18" charset="0"/>
              </a:rPr>
              <a:t> – Represents the customer’s age.</a:t>
            </a: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Category</a:t>
            </a:r>
            <a:r>
              <a:rPr lang="en-IN" sz="1600" dirty="0">
                <a:latin typeface="Times New Roman" panose="02020603050405020304" pitchFamily="18" charset="0"/>
                <a:cs typeface="Times New Roman" panose="02020603050405020304" pitchFamily="18" charset="0"/>
              </a:rPr>
              <a:t> – Product type or shopping category.</a:t>
            </a: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Quantity</a:t>
            </a:r>
            <a:r>
              <a:rPr lang="en-IN" sz="1600" dirty="0">
                <a:latin typeface="Times New Roman" panose="02020603050405020304" pitchFamily="18" charset="0"/>
                <a:cs typeface="Times New Roman" panose="02020603050405020304" pitchFamily="18" charset="0"/>
              </a:rPr>
              <a:t> – Number of items purchased.</a:t>
            </a: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Price</a:t>
            </a:r>
            <a:r>
              <a:rPr lang="en-IN" sz="1600" dirty="0">
                <a:latin typeface="Times New Roman" panose="02020603050405020304" pitchFamily="18" charset="0"/>
                <a:cs typeface="Times New Roman" panose="02020603050405020304" pitchFamily="18" charset="0"/>
              </a:rPr>
              <a:t> – Price per item in the transaction.</a:t>
            </a: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Payment Method</a:t>
            </a:r>
            <a:r>
              <a:rPr lang="en-IN" sz="1600" dirty="0">
                <a:latin typeface="Times New Roman" panose="02020603050405020304" pitchFamily="18" charset="0"/>
                <a:cs typeface="Times New Roman" panose="02020603050405020304" pitchFamily="18" charset="0"/>
              </a:rPr>
              <a:t> – Mode of payment used (Cash, Card).</a:t>
            </a: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Invoice Date </a:t>
            </a:r>
            <a:r>
              <a:rPr lang="en-IN" sz="1600" dirty="0">
                <a:latin typeface="Times New Roman" panose="02020603050405020304" pitchFamily="18" charset="0"/>
                <a:cs typeface="Times New Roman" panose="02020603050405020304" pitchFamily="18" charset="0"/>
              </a:rPr>
              <a:t>– Date of purchase</a:t>
            </a:r>
          </a:p>
          <a:p>
            <a:pPr algn="just">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Shopping Mall</a:t>
            </a:r>
            <a:r>
              <a:rPr lang="en-IN" sz="1600" dirty="0">
                <a:latin typeface="Times New Roman" panose="02020603050405020304" pitchFamily="18" charset="0"/>
                <a:cs typeface="Times New Roman" panose="02020603050405020304" pitchFamily="18" charset="0"/>
              </a:rPr>
              <a:t> – Name of the mall where the purchase occurred.</a:t>
            </a:r>
          </a:p>
        </p:txBody>
      </p:sp>
      <p:cxnSp>
        <p:nvCxnSpPr>
          <p:cNvPr id="585" name="Google Shape;585;p76"/>
          <p:cNvCxnSpPr/>
          <p:nvPr/>
        </p:nvCxnSpPr>
        <p:spPr>
          <a:xfrm>
            <a:off x="898668" y="1156735"/>
            <a:ext cx="647100" cy="0"/>
          </a:xfrm>
          <a:prstGeom prst="straightConnector1">
            <a:avLst/>
          </a:prstGeom>
          <a:noFill/>
          <a:ln w="19050" cap="flat" cmpd="sng">
            <a:solidFill>
              <a:schemeClr val="dk1"/>
            </a:solidFill>
            <a:prstDash val="solid"/>
            <a:round/>
            <a:headEnd type="none" w="med" len="med"/>
            <a:tailEnd type="none" w="med" len="med"/>
          </a:ln>
        </p:spPr>
      </p:cxnSp>
      <p:sp>
        <p:nvSpPr>
          <p:cNvPr id="3" name="Title 2">
            <a:extLst>
              <a:ext uri="{FF2B5EF4-FFF2-40B4-BE49-F238E27FC236}">
                <a16:creationId xmlns:a16="http://schemas.microsoft.com/office/drawing/2014/main" id="{C22AF41E-6416-9908-3E86-0192D88EF5E7}"/>
              </a:ext>
            </a:extLst>
          </p:cNvPr>
          <p:cNvSpPr>
            <a:spLocks noGrp="1"/>
          </p:cNvSpPr>
          <p:nvPr>
            <p:ph type="ctrTitle"/>
          </p:nvPr>
        </p:nvSpPr>
        <p:spPr>
          <a:xfrm>
            <a:off x="713027" y="561426"/>
            <a:ext cx="5762400" cy="598575"/>
          </a:xfrm>
        </p:spPr>
        <p:txBody>
          <a:bodyPr/>
          <a:lstStyle/>
          <a:p>
            <a:pPr algn="l"/>
            <a:r>
              <a:rPr lang="en-US" sz="2500" dirty="0"/>
              <a:t>KEY DETAILS</a:t>
            </a:r>
          </a:p>
        </p:txBody>
      </p:sp>
    </p:spTree>
    <p:extLst>
      <p:ext uri="{BB962C8B-B14F-4D97-AF65-F5344CB8AC3E}">
        <p14:creationId xmlns:p14="http://schemas.microsoft.com/office/powerpoint/2010/main" val="3373517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3" name="Google Shape;743;p92"/>
          <p:cNvSpPr txBox="1">
            <a:spLocks noGrp="1"/>
          </p:cNvSpPr>
          <p:nvPr>
            <p:ph type="title"/>
          </p:nvPr>
        </p:nvSpPr>
        <p:spPr>
          <a:xfrm>
            <a:off x="679633" y="648591"/>
            <a:ext cx="6548377" cy="5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b="1" dirty="0"/>
              <a:t>CRITERIA USED</a:t>
            </a:r>
            <a:endParaRPr sz="2500" b="1" dirty="0"/>
          </a:p>
        </p:txBody>
      </p:sp>
      <p:cxnSp>
        <p:nvCxnSpPr>
          <p:cNvPr id="748" name="Google Shape;748;p92"/>
          <p:cNvCxnSpPr/>
          <p:nvPr/>
        </p:nvCxnSpPr>
        <p:spPr>
          <a:xfrm>
            <a:off x="1059773" y="1204722"/>
            <a:ext cx="647100" cy="0"/>
          </a:xfrm>
          <a:prstGeom prst="straightConnector1">
            <a:avLst/>
          </a:prstGeom>
          <a:noFill/>
          <a:ln w="19050" cap="flat" cmpd="sng">
            <a:solidFill>
              <a:schemeClr val="dk1"/>
            </a:solidFill>
            <a:prstDash val="solid"/>
            <a:round/>
            <a:headEnd type="none" w="med" len="med"/>
            <a:tailEnd type="none" w="med" len="med"/>
          </a:ln>
        </p:spPr>
      </p:cxnSp>
      <p:sp>
        <p:nvSpPr>
          <p:cNvPr id="10" name="Google Shape;584;p76">
            <a:extLst>
              <a:ext uri="{FF2B5EF4-FFF2-40B4-BE49-F238E27FC236}">
                <a16:creationId xmlns:a16="http://schemas.microsoft.com/office/drawing/2014/main" id="{B5C098C8-4996-0686-3179-5DCB2CE303C5}"/>
              </a:ext>
            </a:extLst>
          </p:cNvPr>
          <p:cNvSpPr txBox="1">
            <a:spLocks noGrp="1"/>
          </p:cNvSpPr>
          <p:nvPr>
            <p:ph type="subTitle" idx="1"/>
          </p:nvPr>
        </p:nvSpPr>
        <p:spPr>
          <a:xfrm>
            <a:off x="1706873" y="1614055"/>
            <a:ext cx="6548377" cy="3040361"/>
          </a:xfrm>
          <a:prstGeom prst="rect">
            <a:avLst/>
          </a:prstGeom>
        </p:spPr>
        <p:txBody>
          <a:bodyPr spcFirstLastPara="1" wrap="square" lIns="91425" tIns="91425" rIns="91425" bIns="91425" anchor="t" anchorCtr="0">
            <a:noAutofit/>
          </a:bodyPr>
          <a:lstStyle/>
          <a:p>
            <a:pPr marL="139700" indent="0" algn="l"/>
            <a:r>
              <a:rPr lang="en-IN" sz="2000" dirty="0">
                <a:latin typeface="Times New Roman" panose="02020603050405020304" pitchFamily="18" charset="0"/>
                <a:cs typeface="Times New Roman" panose="02020603050405020304" pitchFamily="18" charset="0"/>
              </a:rPr>
              <a:t>Sales by Product Category		</a:t>
            </a:r>
            <a:r>
              <a:rPr lang="en-IN" sz="18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Column chart</a:t>
            </a:r>
          </a:p>
          <a:p>
            <a:pPr marL="139700" indent="0" algn="l"/>
            <a:endParaRPr lang="en-IN" sz="2000" dirty="0">
              <a:latin typeface="Times New Roman" panose="02020603050405020304" pitchFamily="18" charset="0"/>
              <a:cs typeface="Times New Roman" panose="02020603050405020304" pitchFamily="18" charset="0"/>
            </a:endParaRPr>
          </a:p>
          <a:p>
            <a:pPr marL="139700" indent="0" algn="l"/>
            <a:r>
              <a:rPr lang="en-IN" sz="2000" dirty="0">
                <a:latin typeface="Times New Roman" panose="02020603050405020304" pitchFamily="18" charset="0"/>
                <a:cs typeface="Times New Roman" panose="02020603050405020304" pitchFamily="18" charset="0"/>
              </a:rPr>
              <a:t>Sales Trend Over Time			- </a:t>
            </a:r>
            <a:r>
              <a:rPr lang="en-IN" sz="1600" dirty="0">
                <a:latin typeface="Times New Roman" panose="02020603050405020304" pitchFamily="18" charset="0"/>
                <a:cs typeface="Times New Roman" panose="02020603050405020304" pitchFamily="18" charset="0"/>
              </a:rPr>
              <a:t>Line chart</a:t>
            </a:r>
          </a:p>
          <a:p>
            <a:pPr marL="139700" indent="0" algn="l"/>
            <a:endParaRPr lang="en-IN" sz="2000" dirty="0">
              <a:latin typeface="Times New Roman" panose="02020603050405020304" pitchFamily="18" charset="0"/>
              <a:cs typeface="Times New Roman" panose="02020603050405020304" pitchFamily="18" charset="0"/>
            </a:endParaRPr>
          </a:p>
          <a:p>
            <a:pPr marL="139700" indent="0" algn="l"/>
            <a:r>
              <a:rPr lang="en-IN" sz="2000" dirty="0">
                <a:latin typeface="Times New Roman" panose="02020603050405020304" pitchFamily="18" charset="0"/>
                <a:cs typeface="Times New Roman" panose="02020603050405020304" pitchFamily="18" charset="0"/>
              </a:rPr>
              <a:t>Customer Sales by Gender		- </a:t>
            </a:r>
            <a:r>
              <a:rPr lang="en-IN" sz="1600" dirty="0">
                <a:latin typeface="Times New Roman" panose="02020603050405020304" pitchFamily="18" charset="0"/>
                <a:cs typeface="Times New Roman" panose="02020603050405020304" pitchFamily="18" charset="0"/>
              </a:rPr>
              <a:t>Donut chart</a:t>
            </a:r>
          </a:p>
          <a:p>
            <a:pPr marL="139700" indent="0" algn="l"/>
            <a:endParaRPr lang="en-IN" sz="2000" dirty="0">
              <a:latin typeface="Times New Roman" panose="02020603050405020304" pitchFamily="18" charset="0"/>
              <a:cs typeface="Times New Roman" panose="02020603050405020304" pitchFamily="18" charset="0"/>
            </a:endParaRPr>
          </a:p>
          <a:p>
            <a:pPr marL="139700" indent="0" algn="l"/>
            <a:r>
              <a:rPr lang="en-IN" sz="2000" dirty="0">
                <a:latin typeface="Times New Roman" panose="02020603050405020304" pitchFamily="18" charset="0"/>
                <a:cs typeface="Times New Roman" panose="02020603050405020304" pitchFamily="18" charset="0"/>
              </a:rPr>
              <a:t>Mall Performance Comparison		- </a:t>
            </a:r>
            <a:r>
              <a:rPr lang="en-IN" sz="1600" dirty="0">
                <a:latin typeface="Times New Roman" panose="02020603050405020304" pitchFamily="18" charset="0"/>
                <a:cs typeface="Times New Roman" panose="02020603050405020304" pitchFamily="18" charset="0"/>
              </a:rPr>
              <a:t>Bar chart</a:t>
            </a:r>
          </a:p>
        </p:txBody>
      </p:sp>
      <p:pic>
        <p:nvPicPr>
          <p:cNvPr id="3" name="Picture 2">
            <a:extLst>
              <a:ext uri="{FF2B5EF4-FFF2-40B4-BE49-F238E27FC236}">
                <a16:creationId xmlns:a16="http://schemas.microsoft.com/office/drawing/2014/main" id="{BDF43518-757D-5967-0B09-62824DBF893F}"/>
              </a:ext>
            </a:extLst>
          </p:cNvPr>
          <p:cNvPicPr>
            <a:picLocks noChangeAspect="1"/>
          </p:cNvPicPr>
          <p:nvPr/>
        </p:nvPicPr>
        <p:blipFill>
          <a:blip r:embed="rId3"/>
          <a:stretch>
            <a:fillRect/>
          </a:stretch>
        </p:blipFill>
        <p:spPr>
          <a:xfrm>
            <a:off x="1301260" y="3426570"/>
            <a:ext cx="405612" cy="405612"/>
          </a:xfrm>
          <a:prstGeom prst="rect">
            <a:avLst/>
          </a:prstGeom>
        </p:spPr>
      </p:pic>
      <p:pic>
        <p:nvPicPr>
          <p:cNvPr id="5" name="Picture 4">
            <a:extLst>
              <a:ext uri="{FF2B5EF4-FFF2-40B4-BE49-F238E27FC236}">
                <a16:creationId xmlns:a16="http://schemas.microsoft.com/office/drawing/2014/main" id="{AD9C67E8-D509-82BC-639B-B5697096B875}"/>
              </a:ext>
            </a:extLst>
          </p:cNvPr>
          <p:cNvPicPr>
            <a:picLocks noChangeAspect="1"/>
          </p:cNvPicPr>
          <p:nvPr/>
        </p:nvPicPr>
        <p:blipFill>
          <a:blip r:embed="rId4"/>
          <a:stretch>
            <a:fillRect/>
          </a:stretch>
        </p:blipFill>
        <p:spPr>
          <a:xfrm>
            <a:off x="1301260" y="2239289"/>
            <a:ext cx="405613" cy="405613"/>
          </a:xfrm>
          <a:prstGeom prst="rect">
            <a:avLst/>
          </a:prstGeom>
        </p:spPr>
      </p:pic>
      <p:pic>
        <p:nvPicPr>
          <p:cNvPr id="7" name="Picture 6">
            <a:extLst>
              <a:ext uri="{FF2B5EF4-FFF2-40B4-BE49-F238E27FC236}">
                <a16:creationId xmlns:a16="http://schemas.microsoft.com/office/drawing/2014/main" id="{866C8DA3-0FC9-1E77-6486-EF48FF338D8D}"/>
              </a:ext>
            </a:extLst>
          </p:cNvPr>
          <p:cNvPicPr>
            <a:picLocks noChangeAspect="1"/>
          </p:cNvPicPr>
          <p:nvPr/>
        </p:nvPicPr>
        <p:blipFill>
          <a:blip r:embed="rId5"/>
          <a:stretch>
            <a:fillRect/>
          </a:stretch>
        </p:blipFill>
        <p:spPr>
          <a:xfrm>
            <a:off x="1301260" y="1678258"/>
            <a:ext cx="405612" cy="405612"/>
          </a:xfrm>
          <a:prstGeom prst="rect">
            <a:avLst/>
          </a:prstGeom>
        </p:spPr>
      </p:pic>
      <p:pic>
        <p:nvPicPr>
          <p:cNvPr id="9" name="Picture 8">
            <a:extLst>
              <a:ext uri="{FF2B5EF4-FFF2-40B4-BE49-F238E27FC236}">
                <a16:creationId xmlns:a16="http://schemas.microsoft.com/office/drawing/2014/main" id="{40012C34-550A-5098-9FEB-904C4523BF3C}"/>
              </a:ext>
            </a:extLst>
          </p:cNvPr>
          <p:cNvPicPr>
            <a:picLocks noChangeAspect="1"/>
          </p:cNvPicPr>
          <p:nvPr/>
        </p:nvPicPr>
        <p:blipFill>
          <a:blip r:embed="rId6"/>
          <a:stretch>
            <a:fillRect/>
          </a:stretch>
        </p:blipFill>
        <p:spPr>
          <a:xfrm>
            <a:off x="1301260" y="2865539"/>
            <a:ext cx="405612" cy="405612"/>
          </a:xfrm>
          <a:prstGeom prst="rect">
            <a:avLst/>
          </a:prstGeom>
        </p:spPr>
      </p:pic>
    </p:spTree>
    <p:extLst>
      <p:ext uri="{BB962C8B-B14F-4D97-AF65-F5344CB8AC3E}">
        <p14:creationId xmlns:p14="http://schemas.microsoft.com/office/powerpoint/2010/main" val="1291973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3" name="Google Shape;743;p92"/>
          <p:cNvSpPr txBox="1">
            <a:spLocks noGrp="1"/>
          </p:cNvSpPr>
          <p:nvPr>
            <p:ph type="title"/>
          </p:nvPr>
        </p:nvSpPr>
        <p:spPr>
          <a:xfrm>
            <a:off x="703384" y="607067"/>
            <a:ext cx="6548377" cy="5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b="1" dirty="0"/>
              <a:t>CRITERIA</a:t>
            </a:r>
            <a:r>
              <a:rPr lang="en" b="1" dirty="0"/>
              <a:t> </a:t>
            </a:r>
            <a:r>
              <a:rPr lang="en" sz="2500" b="1" dirty="0"/>
              <a:t>USED</a:t>
            </a:r>
            <a:endParaRPr sz="2500" b="1" dirty="0"/>
          </a:p>
        </p:txBody>
      </p:sp>
      <p:cxnSp>
        <p:nvCxnSpPr>
          <p:cNvPr id="748" name="Google Shape;748;p92"/>
          <p:cNvCxnSpPr/>
          <p:nvPr/>
        </p:nvCxnSpPr>
        <p:spPr>
          <a:xfrm>
            <a:off x="1059773" y="1204722"/>
            <a:ext cx="647100" cy="0"/>
          </a:xfrm>
          <a:prstGeom prst="straightConnector1">
            <a:avLst/>
          </a:prstGeom>
          <a:noFill/>
          <a:ln w="19050" cap="flat" cmpd="sng">
            <a:solidFill>
              <a:schemeClr val="dk1"/>
            </a:solidFill>
            <a:prstDash val="solid"/>
            <a:round/>
            <a:headEnd type="none" w="med" len="med"/>
            <a:tailEnd type="none" w="med" len="med"/>
          </a:ln>
        </p:spPr>
      </p:cxnSp>
      <p:sp>
        <p:nvSpPr>
          <p:cNvPr id="10" name="Google Shape;584;p76">
            <a:extLst>
              <a:ext uri="{FF2B5EF4-FFF2-40B4-BE49-F238E27FC236}">
                <a16:creationId xmlns:a16="http://schemas.microsoft.com/office/drawing/2014/main" id="{B5C098C8-4996-0686-3179-5DCB2CE303C5}"/>
              </a:ext>
            </a:extLst>
          </p:cNvPr>
          <p:cNvSpPr txBox="1">
            <a:spLocks noGrp="1"/>
          </p:cNvSpPr>
          <p:nvPr>
            <p:ph type="subTitle" idx="1"/>
          </p:nvPr>
        </p:nvSpPr>
        <p:spPr>
          <a:xfrm>
            <a:off x="1706873" y="1621922"/>
            <a:ext cx="6548377" cy="3040361"/>
          </a:xfrm>
          <a:prstGeom prst="rect">
            <a:avLst/>
          </a:prstGeom>
        </p:spPr>
        <p:txBody>
          <a:bodyPr spcFirstLastPara="1" wrap="square" lIns="91425" tIns="91425" rIns="91425" bIns="91425" anchor="t" anchorCtr="0">
            <a:noAutofit/>
          </a:bodyPr>
          <a:lstStyle/>
          <a:p>
            <a:pPr marL="139700" indent="0" algn="l"/>
            <a:r>
              <a:rPr lang="en-IN" sz="2000" dirty="0">
                <a:latin typeface="Times New Roman" panose="02020603050405020304" pitchFamily="18" charset="0"/>
                <a:cs typeface="Times New Roman" panose="02020603050405020304" pitchFamily="18" charset="0"/>
              </a:rPr>
              <a:t>Payment Method Analysis		- </a:t>
            </a:r>
            <a:r>
              <a:rPr lang="en-IN" sz="1600" dirty="0">
                <a:latin typeface="Times New Roman" panose="02020603050405020304" pitchFamily="18" charset="0"/>
                <a:cs typeface="Times New Roman" panose="02020603050405020304" pitchFamily="18" charset="0"/>
              </a:rPr>
              <a:t>Pie chart</a:t>
            </a:r>
            <a:r>
              <a:rPr lang="en-IN" sz="2000" dirty="0">
                <a:latin typeface="Times New Roman" panose="02020603050405020304" pitchFamily="18" charset="0"/>
                <a:cs typeface="Times New Roman" panose="02020603050405020304" pitchFamily="18" charset="0"/>
              </a:rPr>
              <a:t>		</a:t>
            </a:r>
          </a:p>
          <a:p>
            <a:pPr marL="139700" indent="0" algn="l"/>
            <a:r>
              <a:rPr lang="en-IN" sz="2000" dirty="0">
                <a:latin typeface="Times New Roman" panose="02020603050405020304" pitchFamily="18" charset="0"/>
                <a:cs typeface="Times New Roman" panose="02020603050405020304" pitchFamily="18" charset="0"/>
              </a:rPr>
              <a:t>Total Sales				- </a:t>
            </a:r>
            <a:r>
              <a:rPr lang="en-IN" sz="1600" dirty="0">
                <a:latin typeface="Times New Roman" panose="02020603050405020304" pitchFamily="18" charset="0"/>
                <a:cs typeface="Times New Roman" panose="02020603050405020304" pitchFamily="18" charset="0"/>
              </a:rPr>
              <a:t>Card</a:t>
            </a:r>
          </a:p>
          <a:p>
            <a:pPr marL="139700" indent="0" algn="l"/>
            <a:endParaRPr lang="en-IN" sz="2000" dirty="0">
              <a:latin typeface="Times New Roman" panose="02020603050405020304" pitchFamily="18" charset="0"/>
              <a:cs typeface="Times New Roman" panose="02020603050405020304" pitchFamily="18" charset="0"/>
            </a:endParaRPr>
          </a:p>
          <a:p>
            <a:pPr marL="139700" indent="0" algn="l"/>
            <a:r>
              <a:rPr lang="en-IN" sz="2000" dirty="0">
                <a:latin typeface="Times New Roman" panose="02020603050405020304" pitchFamily="18" charset="0"/>
                <a:cs typeface="Times New Roman" panose="02020603050405020304" pitchFamily="18" charset="0"/>
              </a:rPr>
              <a:t>Average Order value			- </a:t>
            </a:r>
            <a:r>
              <a:rPr lang="en-IN" sz="1600" dirty="0">
                <a:latin typeface="Times New Roman" panose="02020603050405020304" pitchFamily="18" charset="0"/>
                <a:cs typeface="Times New Roman" panose="02020603050405020304" pitchFamily="18" charset="0"/>
              </a:rPr>
              <a:t>Card</a:t>
            </a:r>
          </a:p>
          <a:p>
            <a:pPr marL="139700" indent="0" algn="l"/>
            <a:endParaRPr lang="en-IN" sz="2000" dirty="0">
              <a:latin typeface="Times New Roman" panose="02020603050405020304" pitchFamily="18" charset="0"/>
              <a:cs typeface="Times New Roman" panose="02020603050405020304" pitchFamily="18" charset="0"/>
            </a:endParaRPr>
          </a:p>
          <a:p>
            <a:pPr marL="139700" indent="0" algn="l"/>
            <a:r>
              <a:rPr lang="en-IN" sz="2000" dirty="0">
                <a:latin typeface="Times New Roman" panose="02020603050405020304" pitchFamily="18" charset="0"/>
                <a:cs typeface="Times New Roman" panose="02020603050405020304" pitchFamily="18" charset="0"/>
              </a:rPr>
              <a:t>Total Transaction			- </a:t>
            </a:r>
            <a:r>
              <a:rPr lang="en-IN" sz="1600" dirty="0">
                <a:latin typeface="Times New Roman" panose="02020603050405020304" pitchFamily="18" charset="0"/>
                <a:cs typeface="Times New Roman" panose="02020603050405020304" pitchFamily="18" charset="0"/>
              </a:rPr>
              <a:t>Card</a:t>
            </a:r>
          </a:p>
        </p:txBody>
      </p:sp>
      <p:pic>
        <p:nvPicPr>
          <p:cNvPr id="12" name="Picture 11">
            <a:extLst>
              <a:ext uri="{FF2B5EF4-FFF2-40B4-BE49-F238E27FC236}">
                <a16:creationId xmlns:a16="http://schemas.microsoft.com/office/drawing/2014/main" id="{EB93898A-C435-6E96-094D-D9E2B9B4BBF6}"/>
              </a:ext>
            </a:extLst>
          </p:cNvPr>
          <p:cNvPicPr>
            <a:picLocks noChangeAspect="1"/>
          </p:cNvPicPr>
          <p:nvPr/>
        </p:nvPicPr>
        <p:blipFill>
          <a:blip r:embed="rId3"/>
          <a:stretch>
            <a:fillRect/>
          </a:stretch>
        </p:blipFill>
        <p:spPr>
          <a:xfrm>
            <a:off x="1178272" y="1621922"/>
            <a:ext cx="528601" cy="528601"/>
          </a:xfrm>
          <a:prstGeom prst="rect">
            <a:avLst/>
          </a:prstGeom>
        </p:spPr>
      </p:pic>
      <p:sp>
        <p:nvSpPr>
          <p:cNvPr id="13" name="Rounded Rectangle 12">
            <a:extLst>
              <a:ext uri="{FF2B5EF4-FFF2-40B4-BE49-F238E27FC236}">
                <a16:creationId xmlns:a16="http://schemas.microsoft.com/office/drawing/2014/main" id="{AB007A9C-5B48-503C-8174-95CA81869471}"/>
              </a:ext>
            </a:extLst>
          </p:cNvPr>
          <p:cNvSpPr/>
          <p:nvPr/>
        </p:nvSpPr>
        <p:spPr>
          <a:xfrm>
            <a:off x="1178272" y="2322576"/>
            <a:ext cx="528601" cy="309996"/>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ounded Rectangle 13">
            <a:extLst>
              <a:ext uri="{FF2B5EF4-FFF2-40B4-BE49-F238E27FC236}">
                <a16:creationId xmlns:a16="http://schemas.microsoft.com/office/drawing/2014/main" id="{89B20E03-1770-A74D-7482-E0FBD74BDA16}"/>
              </a:ext>
            </a:extLst>
          </p:cNvPr>
          <p:cNvSpPr/>
          <p:nvPr/>
        </p:nvSpPr>
        <p:spPr>
          <a:xfrm>
            <a:off x="1178272" y="2946386"/>
            <a:ext cx="528601" cy="309996"/>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83B40537-FEFF-EEBC-7C7B-07E3AB6550E7}"/>
              </a:ext>
            </a:extLst>
          </p:cNvPr>
          <p:cNvSpPr/>
          <p:nvPr/>
        </p:nvSpPr>
        <p:spPr>
          <a:xfrm>
            <a:off x="1178272" y="3531819"/>
            <a:ext cx="528601" cy="309996"/>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7147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3" name="Google Shape;743;p92"/>
          <p:cNvSpPr txBox="1">
            <a:spLocks noGrp="1"/>
          </p:cNvSpPr>
          <p:nvPr>
            <p:ph type="title"/>
          </p:nvPr>
        </p:nvSpPr>
        <p:spPr>
          <a:xfrm>
            <a:off x="727135" y="657593"/>
            <a:ext cx="6548377" cy="5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b="1" dirty="0"/>
              <a:t>CRITERIA USED</a:t>
            </a:r>
            <a:endParaRPr sz="2500" b="1" dirty="0"/>
          </a:p>
        </p:txBody>
      </p:sp>
      <p:cxnSp>
        <p:nvCxnSpPr>
          <p:cNvPr id="748" name="Google Shape;748;p92"/>
          <p:cNvCxnSpPr/>
          <p:nvPr/>
        </p:nvCxnSpPr>
        <p:spPr>
          <a:xfrm>
            <a:off x="1059773" y="1204722"/>
            <a:ext cx="647100" cy="0"/>
          </a:xfrm>
          <a:prstGeom prst="straightConnector1">
            <a:avLst/>
          </a:prstGeom>
          <a:noFill/>
          <a:ln w="19050" cap="flat" cmpd="sng">
            <a:solidFill>
              <a:schemeClr val="dk1"/>
            </a:solidFill>
            <a:prstDash val="solid"/>
            <a:round/>
            <a:headEnd type="none" w="med" len="med"/>
            <a:tailEnd type="none" w="med" len="med"/>
          </a:ln>
        </p:spPr>
      </p:cxnSp>
      <p:sp>
        <p:nvSpPr>
          <p:cNvPr id="10" name="Google Shape;584;p76">
            <a:extLst>
              <a:ext uri="{FF2B5EF4-FFF2-40B4-BE49-F238E27FC236}">
                <a16:creationId xmlns:a16="http://schemas.microsoft.com/office/drawing/2014/main" id="{B5C098C8-4996-0686-3179-5DCB2CE303C5}"/>
              </a:ext>
            </a:extLst>
          </p:cNvPr>
          <p:cNvSpPr txBox="1">
            <a:spLocks noGrp="1"/>
          </p:cNvSpPr>
          <p:nvPr>
            <p:ph type="subTitle" idx="1"/>
          </p:nvPr>
        </p:nvSpPr>
        <p:spPr>
          <a:xfrm>
            <a:off x="1706873" y="1621922"/>
            <a:ext cx="6548377" cy="3040361"/>
          </a:xfrm>
          <a:prstGeom prst="rect">
            <a:avLst/>
          </a:prstGeom>
        </p:spPr>
        <p:txBody>
          <a:bodyPr spcFirstLastPara="1" wrap="square" lIns="91425" tIns="91425" rIns="91425" bIns="91425" anchor="t" anchorCtr="0">
            <a:noAutofit/>
          </a:bodyPr>
          <a:lstStyle/>
          <a:p>
            <a:pPr marL="139700" indent="0" algn="l"/>
            <a:r>
              <a:rPr lang="en-IN" sz="2000" dirty="0">
                <a:latin typeface="Times New Roman" panose="02020603050405020304" pitchFamily="18" charset="0"/>
                <a:cs typeface="Times New Roman" panose="02020603050405020304" pitchFamily="18" charset="0"/>
              </a:rPr>
              <a:t>Date					- </a:t>
            </a:r>
            <a:r>
              <a:rPr lang="en-IN" sz="1600" dirty="0">
                <a:latin typeface="Times New Roman" panose="02020603050405020304" pitchFamily="18" charset="0"/>
                <a:cs typeface="Times New Roman" panose="02020603050405020304" pitchFamily="18" charset="0"/>
              </a:rPr>
              <a:t>Slicer</a:t>
            </a:r>
          </a:p>
          <a:p>
            <a:pPr marL="139700" indent="0" algn="l"/>
            <a:endParaRPr lang="en-IN" sz="2000" dirty="0">
              <a:latin typeface="Times New Roman" panose="02020603050405020304" pitchFamily="18" charset="0"/>
              <a:cs typeface="Times New Roman" panose="02020603050405020304" pitchFamily="18" charset="0"/>
            </a:endParaRPr>
          </a:p>
          <a:p>
            <a:pPr marL="139700" indent="0" algn="l"/>
            <a:r>
              <a:rPr lang="en-IN" sz="2000" dirty="0">
                <a:latin typeface="Times New Roman" panose="02020603050405020304" pitchFamily="18" charset="0"/>
                <a:cs typeface="Times New Roman" panose="02020603050405020304" pitchFamily="18" charset="0"/>
              </a:rPr>
              <a:t>Category				- </a:t>
            </a:r>
            <a:r>
              <a:rPr lang="en-IN" sz="1600" dirty="0">
                <a:latin typeface="Times New Roman" panose="02020603050405020304" pitchFamily="18" charset="0"/>
                <a:cs typeface="Times New Roman" panose="02020603050405020304" pitchFamily="18" charset="0"/>
              </a:rPr>
              <a:t>Slicer</a:t>
            </a:r>
          </a:p>
          <a:p>
            <a:pPr marL="139700" indent="0" algn="l"/>
            <a:endParaRPr lang="en-IN" sz="2000" dirty="0">
              <a:latin typeface="Times New Roman" panose="02020603050405020304" pitchFamily="18" charset="0"/>
              <a:cs typeface="Times New Roman" panose="02020603050405020304" pitchFamily="18" charset="0"/>
            </a:endParaRPr>
          </a:p>
          <a:p>
            <a:pPr marL="139700" indent="0" algn="l"/>
            <a:r>
              <a:rPr lang="en-IN" sz="2000" dirty="0">
                <a:latin typeface="Times New Roman" panose="02020603050405020304" pitchFamily="18" charset="0"/>
                <a:cs typeface="Times New Roman" panose="02020603050405020304" pitchFamily="18" charset="0"/>
              </a:rPr>
              <a:t>Age Group				- </a:t>
            </a:r>
            <a:r>
              <a:rPr lang="en-IN" sz="1600" dirty="0">
                <a:latin typeface="Times New Roman" panose="02020603050405020304" pitchFamily="18" charset="0"/>
                <a:cs typeface="Times New Roman" panose="02020603050405020304" pitchFamily="18" charset="0"/>
              </a:rPr>
              <a:t>Slicer</a:t>
            </a:r>
          </a:p>
          <a:p>
            <a:pPr marL="139700" indent="0" algn="l"/>
            <a:endParaRPr lang="en-IN"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1600F1A-4807-10E8-C9FD-9E46502AA82C}"/>
              </a:ext>
            </a:extLst>
          </p:cNvPr>
          <p:cNvPicPr>
            <a:picLocks noChangeAspect="1"/>
          </p:cNvPicPr>
          <p:nvPr/>
        </p:nvPicPr>
        <p:blipFill>
          <a:blip r:embed="rId3"/>
          <a:stretch>
            <a:fillRect/>
          </a:stretch>
        </p:blipFill>
        <p:spPr>
          <a:xfrm>
            <a:off x="1383323" y="1665406"/>
            <a:ext cx="402820" cy="402820"/>
          </a:xfrm>
          <a:prstGeom prst="rect">
            <a:avLst/>
          </a:prstGeom>
        </p:spPr>
      </p:pic>
      <p:pic>
        <p:nvPicPr>
          <p:cNvPr id="4" name="Picture 3">
            <a:extLst>
              <a:ext uri="{FF2B5EF4-FFF2-40B4-BE49-F238E27FC236}">
                <a16:creationId xmlns:a16="http://schemas.microsoft.com/office/drawing/2014/main" id="{665ED82B-8C92-4E8E-FD96-86FE2EC73882}"/>
              </a:ext>
            </a:extLst>
          </p:cNvPr>
          <p:cNvPicPr>
            <a:picLocks noChangeAspect="1"/>
          </p:cNvPicPr>
          <p:nvPr/>
        </p:nvPicPr>
        <p:blipFill>
          <a:blip r:embed="rId3"/>
          <a:stretch>
            <a:fillRect/>
          </a:stretch>
        </p:blipFill>
        <p:spPr>
          <a:xfrm>
            <a:off x="1383323" y="2273235"/>
            <a:ext cx="402820" cy="402820"/>
          </a:xfrm>
          <a:prstGeom prst="rect">
            <a:avLst/>
          </a:prstGeom>
        </p:spPr>
      </p:pic>
      <p:pic>
        <p:nvPicPr>
          <p:cNvPr id="5" name="Picture 4">
            <a:extLst>
              <a:ext uri="{FF2B5EF4-FFF2-40B4-BE49-F238E27FC236}">
                <a16:creationId xmlns:a16="http://schemas.microsoft.com/office/drawing/2014/main" id="{82E80C2D-DB85-48A6-D97E-7934DED226B3}"/>
              </a:ext>
            </a:extLst>
          </p:cNvPr>
          <p:cNvPicPr>
            <a:picLocks noChangeAspect="1"/>
          </p:cNvPicPr>
          <p:nvPr/>
        </p:nvPicPr>
        <p:blipFill>
          <a:blip r:embed="rId3"/>
          <a:stretch>
            <a:fillRect/>
          </a:stretch>
        </p:blipFill>
        <p:spPr>
          <a:xfrm>
            <a:off x="1416866" y="2917349"/>
            <a:ext cx="402820" cy="402820"/>
          </a:xfrm>
          <a:prstGeom prst="rect">
            <a:avLst/>
          </a:prstGeom>
        </p:spPr>
      </p:pic>
    </p:spTree>
    <p:extLst>
      <p:ext uri="{BB962C8B-B14F-4D97-AF65-F5344CB8AC3E}">
        <p14:creationId xmlns:p14="http://schemas.microsoft.com/office/powerpoint/2010/main" val="1701011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3" name="Google Shape;743;p92"/>
          <p:cNvSpPr txBox="1">
            <a:spLocks noGrp="1"/>
          </p:cNvSpPr>
          <p:nvPr>
            <p:ph type="title"/>
          </p:nvPr>
        </p:nvSpPr>
        <p:spPr>
          <a:xfrm>
            <a:off x="703383" y="628502"/>
            <a:ext cx="6548377" cy="5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b="1" dirty="0"/>
              <a:t>CRITERIA USED</a:t>
            </a:r>
            <a:endParaRPr sz="2500" b="1" dirty="0"/>
          </a:p>
        </p:txBody>
      </p:sp>
      <p:cxnSp>
        <p:nvCxnSpPr>
          <p:cNvPr id="748" name="Google Shape;748;p92"/>
          <p:cNvCxnSpPr/>
          <p:nvPr/>
        </p:nvCxnSpPr>
        <p:spPr>
          <a:xfrm>
            <a:off x="1059773" y="1204722"/>
            <a:ext cx="647100" cy="0"/>
          </a:xfrm>
          <a:prstGeom prst="straightConnector1">
            <a:avLst/>
          </a:prstGeom>
          <a:noFill/>
          <a:ln w="19050" cap="flat" cmpd="sng">
            <a:solidFill>
              <a:schemeClr val="dk1"/>
            </a:solidFill>
            <a:prstDash val="solid"/>
            <a:round/>
            <a:headEnd type="none" w="med" len="med"/>
            <a:tailEnd type="none" w="med" len="med"/>
          </a:ln>
        </p:spPr>
      </p:cxnSp>
      <p:sp>
        <p:nvSpPr>
          <p:cNvPr id="10" name="Google Shape;584;p76">
            <a:extLst>
              <a:ext uri="{FF2B5EF4-FFF2-40B4-BE49-F238E27FC236}">
                <a16:creationId xmlns:a16="http://schemas.microsoft.com/office/drawing/2014/main" id="{B5C098C8-4996-0686-3179-5DCB2CE303C5}"/>
              </a:ext>
            </a:extLst>
          </p:cNvPr>
          <p:cNvSpPr txBox="1">
            <a:spLocks noGrp="1"/>
          </p:cNvSpPr>
          <p:nvPr>
            <p:ph type="subTitle" idx="1"/>
          </p:nvPr>
        </p:nvSpPr>
        <p:spPr>
          <a:xfrm>
            <a:off x="703383" y="1570669"/>
            <a:ext cx="7771543" cy="3040361"/>
          </a:xfrm>
          <a:prstGeom prst="rect">
            <a:avLst/>
          </a:prstGeom>
        </p:spPr>
        <p:txBody>
          <a:bodyPr spcFirstLastPara="1" wrap="square" lIns="91425" tIns="91425" rIns="91425" bIns="91425" anchor="t" anchorCtr="0">
            <a:noAutofit/>
          </a:bodyPr>
          <a:lstStyle/>
          <a:p>
            <a:pPr algn="l"/>
            <a:r>
              <a:rPr lang="en-IN" sz="1600" dirty="0">
                <a:latin typeface="Times New Roman" panose="02020603050405020304" pitchFamily="18" charset="0"/>
                <a:cs typeface="Times New Roman" panose="02020603050405020304" pitchFamily="18" charset="0"/>
              </a:rPr>
              <a:t>3 new measures has been created to calculate the Sales ,Transaction and Order value.</a:t>
            </a:r>
          </a:p>
          <a:p>
            <a:pPr algn="l"/>
            <a:endParaRPr lang="en-IN" dirty="0">
              <a:latin typeface="Times New Roman" panose="02020603050405020304" pitchFamily="18" charset="0"/>
              <a:cs typeface="Times New Roman" panose="02020603050405020304" pitchFamily="18" charset="0"/>
            </a:endParaRPr>
          </a:p>
          <a:p>
            <a:pPr algn="l">
              <a:lnSpc>
                <a:spcPct val="150000"/>
              </a:lnSpc>
            </a:pPr>
            <a:r>
              <a:rPr lang="en-IN" sz="1600" dirty="0">
                <a:latin typeface="Times New Roman" panose="02020603050405020304" pitchFamily="18" charset="0"/>
                <a:cs typeface="Times New Roman" panose="02020603050405020304" pitchFamily="18" charset="0"/>
              </a:rPr>
              <a:t>Total Sales = SUMX(</a:t>
            </a:r>
            <a:r>
              <a:rPr lang="en-IN" sz="1600" dirty="0" err="1">
                <a:latin typeface="Times New Roman" panose="02020603050405020304" pitchFamily="18" charset="0"/>
                <a:cs typeface="Times New Roman" panose="02020603050405020304" pitchFamily="18" charset="0"/>
              </a:rPr>
              <a:t>customer_shopping_data</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customer_shopping_data</a:t>
            </a:r>
            <a:r>
              <a:rPr lang="en-IN" sz="1600" dirty="0">
                <a:latin typeface="Times New Roman" panose="02020603050405020304" pitchFamily="18" charset="0"/>
                <a:cs typeface="Times New Roman" panose="02020603050405020304" pitchFamily="18" charset="0"/>
              </a:rPr>
              <a:t>[quantity] *   	       	 	     </a:t>
            </a:r>
            <a:r>
              <a:rPr lang="en-IN" sz="1600" dirty="0" err="1">
                <a:latin typeface="Times New Roman" panose="02020603050405020304" pitchFamily="18" charset="0"/>
                <a:cs typeface="Times New Roman" panose="02020603050405020304" pitchFamily="18" charset="0"/>
              </a:rPr>
              <a:t>customer_shopping_data</a:t>
            </a:r>
            <a:r>
              <a:rPr lang="en-IN" sz="1600" dirty="0">
                <a:latin typeface="Times New Roman" panose="02020603050405020304" pitchFamily="18" charset="0"/>
                <a:cs typeface="Times New Roman" panose="02020603050405020304" pitchFamily="18" charset="0"/>
              </a:rPr>
              <a:t>[price])	</a:t>
            </a:r>
          </a:p>
          <a:p>
            <a:pPr algn="l"/>
            <a:endParaRPr lang="en-IN" sz="1600" dirty="0">
              <a:latin typeface="Times New Roman" panose="02020603050405020304" pitchFamily="18" charset="0"/>
              <a:cs typeface="Times New Roman" panose="02020603050405020304" pitchFamily="18" charset="0"/>
            </a:endParaRPr>
          </a:p>
          <a:p>
            <a:pPr algn="l"/>
            <a:r>
              <a:rPr lang="en-IN" sz="1600" dirty="0">
                <a:latin typeface="Times New Roman" panose="02020603050405020304" pitchFamily="18" charset="0"/>
                <a:cs typeface="Times New Roman" panose="02020603050405020304" pitchFamily="18" charset="0"/>
              </a:rPr>
              <a:t>Total Transactions = DISTINCTCOUNT(</a:t>
            </a:r>
            <a:r>
              <a:rPr lang="en-IN" sz="1600" dirty="0" err="1">
                <a:latin typeface="Times New Roman" panose="02020603050405020304" pitchFamily="18" charset="0"/>
                <a:cs typeface="Times New Roman" panose="02020603050405020304" pitchFamily="18" charset="0"/>
              </a:rPr>
              <a:t>customer_shopping_data</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invoice_no</a:t>
            </a:r>
            <a:r>
              <a:rPr lang="en-IN" sz="1600" dirty="0">
                <a:latin typeface="Times New Roman" panose="02020603050405020304" pitchFamily="18" charset="0"/>
                <a:cs typeface="Times New Roman" panose="02020603050405020304" pitchFamily="18" charset="0"/>
              </a:rPr>
              <a:t>])	</a:t>
            </a:r>
          </a:p>
          <a:p>
            <a:pPr algn="l"/>
            <a:endParaRPr lang="en-IN" sz="1600" dirty="0">
              <a:latin typeface="Times New Roman" panose="02020603050405020304" pitchFamily="18" charset="0"/>
              <a:cs typeface="Times New Roman" panose="02020603050405020304" pitchFamily="18" charset="0"/>
            </a:endParaRPr>
          </a:p>
          <a:p>
            <a:pPr algn="l"/>
            <a:r>
              <a:rPr lang="en-IN" sz="1600" dirty="0">
                <a:latin typeface="Times New Roman" panose="02020603050405020304" pitchFamily="18" charset="0"/>
                <a:cs typeface="Times New Roman" panose="02020603050405020304" pitchFamily="18" charset="0"/>
              </a:rPr>
              <a:t>Average Order Value = DIVIDE([Total Sales], [Total Transactions])</a:t>
            </a:r>
          </a:p>
        </p:txBody>
      </p:sp>
    </p:spTree>
    <p:extLst>
      <p:ext uri="{BB962C8B-B14F-4D97-AF65-F5344CB8AC3E}">
        <p14:creationId xmlns:p14="http://schemas.microsoft.com/office/powerpoint/2010/main" val="2797774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953696-CFC2-8CED-223F-773C8979D07E}"/>
              </a:ext>
            </a:extLst>
          </p:cNvPr>
          <p:cNvPicPr>
            <a:picLocks noChangeAspect="1"/>
          </p:cNvPicPr>
          <p:nvPr/>
        </p:nvPicPr>
        <p:blipFill>
          <a:blip r:embed="rId2"/>
          <a:stretch>
            <a:fillRect/>
          </a:stretch>
        </p:blipFill>
        <p:spPr>
          <a:xfrm>
            <a:off x="316872" y="371192"/>
            <a:ext cx="8501204" cy="4445251"/>
          </a:xfrm>
          <a:prstGeom prst="rect">
            <a:avLst/>
          </a:prstGeom>
        </p:spPr>
      </p:pic>
    </p:spTree>
    <p:extLst>
      <p:ext uri="{BB962C8B-B14F-4D97-AF65-F5344CB8AC3E}">
        <p14:creationId xmlns:p14="http://schemas.microsoft.com/office/powerpoint/2010/main" val="800123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1"/>
        <p:cNvGrpSpPr/>
        <p:nvPr/>
      </p:nvGrpSpPr>
      <p:grpSpPr>
        <a:xfrm>
          <a:off x="0" y="0"/>
          <a:ext cx="0" cy="0"/>
          <a:chOff x="0" y="0"/>
          <a:chExt cx="0" cy="0"/>
        </a:xfrm>
      </p:grpSpPr>
      <p:sp>
        <p:nvSpPr>
          <p:cNvPr id="1862" name="Google Shape;1862;p124"/>
          <p:cNvSpPr txBox="1">
            <a:spLocks noGrp="1"/>
          </p:cNvSpPr>
          <p:nvPr>
            <p:ph type="title"/>
          </p:nvPr>
        </p:nvSpPr>
        <p:spPr>
          <a:xfrm>
            <a:off x="702074" y="690207"/>
            <a:ext cx="5771400" cy="52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dirty="0"/>
              <a:t>CONCLUSION</a:t>
            </a:r>
            <a:endParaRPr sz="2500" dirty="0"/>
          </a:p>
        </p:txBody>
      </p:sp>
      <p:cxnSp>
        <p:nvCxnSpPr>
          <p:cNvPr id="1863" name="Google Shape;1863;p124"/>
          <p:cNvCxnSpPr/>
          <p:nvPr/>
        </p:nvCxnSpPr>
        <p:spPr>
          <a:xfrm>
            <a:off x="969354" y="1259109"/>
            <a:ext cx="647100" cy="0"/>
          </a:xfrm>
          <a:prstGeom prst="straightConnector1">
            <a:avLst/>
          </a:prstGeom>
          <a:noFill/>
          <a:ln w="19050" cap="flat" cmpd="sng">
            <a:solidFill>
              <a:schemeClr val="dk1"/>
            </a:solidFill>
            <a:prstDash val="solid"/>
            <a:round/>
            <a:headEnd type="none" w="med" len="med"/>
            <a:tailEnd type="none" w="med" len="med"/>
          </a:ln>
        </p:spPr>
      </p:cxnSp>
      <p:sp>
        <p:nvSpPr>
          <p:cNvPr id="3" name="Google Shape;584;p76">
            <a:extLst>
              <a:ext uri="{FF2B5EF4-FFF2-40B4-BE49-F238E27FC236}">
                <a16:creationId xmlns:a16="http://schemas.microsoft.com/office/drawing/2014/main" id="{210E6D88-9D0B-AA68-304F-7625FCBC74C7}"/>
              </a:ext>
            </a:extLst>
          </p:cNvPr>
          <p:cNvSpPr txBox="1">
            <a:spLocks/>
          </p:cNvSpPr>
          <p:nvPr/>
        </p:nvSpPr>
        <p:spPr>
          <a:xfrm>
            <a:off x="702074" y="1572414"/>
            <a:ext cx="7605585" cy="304036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IN" sz="1600" dirty="0">
                <a:latin typeface="Times New Roman" panose="02020603050405020304" pitchFamily="18" charset="0"/>
                <a:cs typeface="Times New Roman" panose="02020603050405020304" pitchFamily="18" charset="0"/>
              </a:rPr>
              <a:t>The Power BI dashboard gives a clear view of customer shopping behaviour across different malls. Total sales reached ₹251.51 million with an average order value of ₹2.53K and around 99K transactions. The top-selling categories were Clothing, Shoes, and Technology, with female customers contributing more to sales than males. Cash was the most preferred payment method, followed by credit and debit cards.</a:t>
            </a: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Overall, the analysis shows that Power BI effectively turns raw data into useful insights. It helps businesses understand customer trends, improve marketing strategies, and make better decisions to boost sales and customer satisfaction.</a:t>
            </a:r>
          </a:p>
        </p:txBody>
      </p:sp>
    </p:spTree>
    <p:extLst>
      <p:ext uri="{BB962C8B-B14F-4D97-AF65-F5344CB8AC3E}">
        <p14:creationId xmlns:p14="http://schemas.microsoft.com/office/powerpoint/2010/main" val="1070700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89"/>
        <p:cNvGrpSpPr/>
        <p:nvPr/>
      </p:nvGrpSpPr>
      <p:grpSpPr>
        <a:xfrm>
          <a:off x="0" y="0"/>
          <a:ext cx="0" cy="0"/>
          <a:chOff x="0" y="0"/>
          <a:chExt cx="0" cy="0"/>
        </a:xfrm>
      </p:grpSpPr>
      <p:sp>
        <p:nvSpPr>
          <p:cNvPr id="592" name="Google Shape;592;p77"/>
          <p:cNvSpPr txBox="1">
            <a:spLocks noGrp="1"/>
          </p:cNvSpPr>
          <p:nvPr>
            <p:ph type="title"/>
          </p:nvPr>
        </p:nvSpPr>
        <p:spPr>
          <a:xfrm>
            <a:off x="720736" y="702091"/>
            <a:ext cx="4263570" cy="30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dirty="0"/>
              <a:t>REFERENCE</a:t>
            </a:r>
            <a:endParaRPr sz="2500" dirty="0"/>
          </a:p>
        </p:txBody>
      </p:sp>
      <p:cxnSp>
        <p:nvCxnSpPr>
          <p:cNvPr id="594" name="Google Shape;594;p77"/>
          <p:cNvCxnSpPr/>
          <p:nvPr/>
        </p:nvCxnSpPr>
        <p:spPr>
          <a:xfrm>
            <a:off x="1019429" y="1151515"/>
            <a:ext cx="647100" cy="0"/>
          </a:xfrm>
          <a:prstGeom prst="straightConnector1">
            <a:avLst/>
          </a:prstGeom>
          <a:noFill/>
          <a:ln w="19050" cap="flat" cmpd="sng">
            <a:solidFill>
              <a:schemeClr val="dk1"/>
            </a:solidFill>
            <a:prstDash val="solid"/>
            <a:round/>
            <a:headEnd type="none" w="med" len="med"/>
            <a:tailEnd type="none" w="med" len="med"/>
          </a:ln>
        </p:spPr>
      </p:cxnSp>
      <p:sp>
        <p:nvSpPr>
          <p:cNvPr id="8" name="TextBox 7">
            <a:extLst>
              <a:ext uri="{FF2B5EF4-FFF2-40B4-BE49-F238E27FC236}">
                <a16:creationId xmlns:a16="http://schemas.microsoft.com/office/drawing/2014/main" id="{835179EF-FCCA-AA80-A8C9-BF43CF450181}"/>
              </a:ext>
            </a:extLst>
          </p:cNvPr>
          <p:cNvSpPr txBox="1"/>
          <p:nvPr/>
        </p:nvSpPr>
        <p:spPr>
          <a:xfrm>
            <a:off x="2505220" y="1863864"/>
            <a:ext cx="5133365"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hlinkClick r:id="rId3"/>
              </a:rPr>
              <a:t>https://www.kaggle.com/datasets/mehmettahiraslan/customer-shopping-dataset</a:t>
            </a:r>
            <a:endParaRPr lang="en-US"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A984F67-432B-7BEB-913A-1B33A28CE458}"/>
              </a:ext>
            </a:extLst>
          </p:cNvPr>
          <p:cNvSpPr txBox="1"/>
          <p:nvPr/>
        </p:nvSpPr>
        <p:spPr>
          <a:xfrm>
            <a:off x="2505220" y="3025559"/>
            <a:ext cx="1548822"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Visualization</a:t>
            </a:r>
          </a:p>
        </p:txBody>
      </p:sp>
      <p:pic>
        <p:nvPicPr>
          <p:cNvPr id="11" name="Picture 10">
            <a:extLst>
              <a:ext uri="{FF2B5EF4-FFF2-40B4-BE49-F238E27FC236}">
                <a16:creationId xmlns:a16="http://schemas.microsoft.com/office/drawing/2014/main" id="{317EA0B3-7F3A-F1F4-E223-1443C28486F6}"/>
              </a:ext>
            </a:extLst>
          </p:cNvPr>
          <p:cNvPicPr>
            <a:picLocks noChangeAspect="1"/>
          </p:cNvPicPr>
          <p:nvPr/>
        </p:nvPicPr>
        <p:blipFill>
          <a:blip r:embed="rId4"/>
          <a:stretch>
            <a:fillRect/>
          </a:stretch>
        </p:blipFill>
        <p:spPr>
          <a:xfrm>
            <a:off x="1157693" y="2767654"/>
            <a:ext cx="915919" cy="915919"/>
          </a:xfrm>
          <a:prstGeom prst="rect">
            <a:avLst/>
          </a:prstGeom>
        </p:spPr>
      </p:pic>
      <p:pic>
        <p:nvPicPr>
          <p:cNvPr id="13" name="Picture 12">
            <a:extLst>
              <a:ext uri="{FF2B5EF4-FFF2-40B4-BE49-F238E27FC236}">
                <a16:creationId xmlns:a16="http://schemas.microsoft.com/office/drawing/2014/main" id="{4283AB1C-EA60-033A-0F49-0EEF5445A11B}"/>
              </a:ext>
            </a:extLst>
          </p:cNvPr>
          <p:cNvPicPr>
            <a:picLocks noChangeAspect="1"/>
          </p:cNvPicPr>
          <p:nvPr/>
        </p:nvPicPr>
        <p:blipFill>
          <a:blip r:embed="rId5"/>
          <a:stretch>
            <a:fillRect/>
          </a:stretch>
        </p:blipFill>
        <p:spPr>
          <a:xfrm>
            <a:off x="980784" y="2062375"/>
            <a:ext cx="1092828" cy="4220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47"/>
        <p:cNvGrpSpPr/>
        <p:nvPr/>
      </p:nvGrpSpPr>
      <p:grpSpPr>
        <a:xfrm>
          <a:off x="0" y="0"/>
          <a:ext cx="0" cy="0"/>
          <a:chOff x="0" y="0"/>
          <a:chExt cx="0" cy="0"/>
        </a:xfrm>
      </p:grpSpPr>
      <p:sp>
        <p:nvSpPr>
          <p:cNvPr id="648" name="Google Shape;648;p84"/>
          <p:cNvSpPr txBox="1">
            <a:spLocks noGrp="1"/>
          </p:cNvSpPr>
          <p:nvPr>
            <p:ph type="title"/>
          </p:nvPr>
        </p:nvSpPr>
        <p:spPr>
          <a:xfrm>
            <a:off x="1388100" y="450150"/>
            <a:ext cx="6367800" cy="409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accent5"/>
                </a:solidFill>
              </a:rPr>
              <a:t>THANK YOU </a:t>
            </a:r>
            <a:endParaRPr dirty="0">
              <a:solidFill>
                <a:schemeClr val="accent5"/>
              </a:solidFill>
            </a:endParaRPr>
          </a:p>
        </p:txBody>
      </p:sp>
    </p:spTree>
  </p:cSld>
  <p:clrMapOvr>
    <a:masterClrMapping/>
  </p:clrMapOvr>
</p:sld>
</file>

<file path=ppt/theme/theme1.xml><?xml version="1.0" encoding="utf-8"?>
<a:theme xmlns:a="http://schemas.openxmlformats.org/drawingml/2006/main" name="Minimalist Grayscale Pitch Deck XL by Slidesgo">
  <a:themeElements>
    <a:clrScheme name="Simple Light">
      <a:dk1>
        <a:srgbClr val="000000"/>
      </a:dk1>
      <a:lt1>
        <a:srgbClr val="EEEEEE"/>
      </a:lt1>
      <a:dk2>
        <a:srgbClr val="DBDBDB"/>
      </a:dk2>
      <a:lt2>
        <a:srgbClr val="929292"/>
      </a:lt2>
      <a:accent1>
        <a:srgbClr val="383838"/>
      </a:accent1>
      <a:accent2>
        <a:srgbClr val="383838"/>
      </a:accent2>
      <a:accent3>
        <a:srgbClr val="383838"/>
      </a:accent3>
      <a:accent4>
        <a:srgbClr val="383838"/>
      </a:accent4>
      <a:accent5>
        <a:srgbClr val="FFFFFF"/>
      </a:accent5>
      <a:accent6>
        <a:srgbClr val="FFFFFF"/>
      </a:accent6>
      <a:hlink>
        <a:srgbClr val="3838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TotalTime>
  <Words>685</Words>
  <Application>Microsoft Macintosh PowerPoint</Application>
  <PresentationFormat>On-screen Show (16:9)</PresentationFormat>
  <Paragraphs>89</Paragraphs>
  <Slides>16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Times New Roman</vt:lpstr>
      <vt:lpstr>Julius Sans One</vt:lpstr>
      <vt:lpstr>Wingdings</vt:lpstr>
      <vt:lpstr>Questrial</vt:lpstr>
      <vt:lpstr>Didact Gothic</vt:lpstr>
      <vt:lpstr>Minimalist Grayscale Pitch Deck XL by Slidesgo</vt:lpstr>
      <vt:lpstr>Customer  Shopping Insights Analysis</vt:lpstr>
      <vt:lpstr>INTRODUCTION  </vt:lpstr>
      <vt:lpstr>Table of contents</vt:lpstr>
      <vt:lpstr>OBJECTIVE</vt:lpstr>
      <vt:lpstr>dataset</vt:lpstr>
      <vt:lpstr>dataset</vt:lpstr>
      <vt:lpstr>KEY DETAILS</vt:lpstr>
      <vt:lpstr>KEY DETAILS</vt:lpstr>
      <vt:lpstr>CRITERIA USED</vt:lpstr>
      <vt:lpstr>CRITERIA USED</vt:lpstr>
      <vt:lpstr>CRITERIA USED</vt:lpstr>
      <vt:lpstr>CRITERIA USED</vt:lpstr>
      <vt:lpstr>PowerPoint Presentation</vt:lpstr>
      <vt:lpstr>CONCLUSION</vt:lpstr>
      <vt:lpstr>REFERENCE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aadisreekumar121@gmail.com</cp:lastModifiedBy>
  <cp:revision>7</cp:revision>
  <dcterms:modified xsi:type="dcterms:W3CDTF">2025-11-06T11:31:03Z</dcterms:modified>
</cp:coreProperties>
</file>